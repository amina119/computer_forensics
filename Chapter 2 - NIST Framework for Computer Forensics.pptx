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5" r:id="rId18"/>
    <p:sldId id="274" r:id="rId19"/>
    <p:sldId id="276" r:id="rId20"/>
    <p:sldId id="277" r:id="rId21"/>
    <p:sldId id="278" r:id="rId22"/>
    <p:sldId id="279" r:id="rId23"/>
    <p:sldId id="280" r:id="rId24"/>
    <p:sldId id="281" r:id="rId25"/>
    <p:sldId id="282" r:id="rId26"/>
    <p:sldId id="283" r:id="rId27"/>
    <p:sldId id="28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55" d="100"/>
          <a:sy n="55" d="100"/>
        </p:scale>
        <p:origin x="22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en-US"/>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en-US"/>
          </a:p>
        </p:txBody>
      </p:sp>
      <p:sp>
        <p:nvSpPr>
          <p:cNvPr id="4" name="Espace réservé de la date 3"/>
          <p:cNvSpPr>
            <a:spLocks noGrp="1"/>
          </p:cNvSpPr>
          <p:nvPr>
            <p:ph type="dt" sz="half" idx="10"/>
          </p:nvPr>
        </p:nvSpPr>
        <p:spPr/>
        <p:txBody>
          <a:bodyPr/>
          <a:lstStyle/>
          <a:p>
            <a:fld id="{CE645F02-B1A8-47A4-B68A-75C930CB2ADC}" type="datetimeFigureOut">
              <a:rPr lang="en-US" smtClean="0"/>
              <a:t>2026-03-04</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ADE1FACD-0DCF-4C07-82BF-E3B39445F545}" type="slidenum">
              <a:rPr lang="en-US" smtClean="0"/>
              <a:t>‹N°›</a:t>
            </a:fld>
            <a:endParaRPr lang="en-US"/>
          </a:p>
        </p:txBody>
      </p:sp>
    </p:spTree>
    <p:extLst>
      <p:ext uri="{BB962C8B-B14F-4D97-AF65-F5344CB8AC3E}">
        <p14:creationId xmlns:p14="http://schemas.microsoft.com/office/powerpoint/2010/main" val="3770054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CE645F02-B1A8-47A4-B68A-75C930CB2ADC}" type="datetimeFigureOut">
              <a:rPr lang="en-US" smtClean="0"/>
              <a:t>2026-03-04</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ADE1FACD-0DCF-4C07-82BF-E3B39445F545}" type="slidenum">
              <a:rPr lang="en-US" smtClean="0"/>
              <a:t>‹N°›</a:t>
            </a:fld>
            <a:endParaRPr lang="en-US"/>
          </a:p>
        </p:txBody>
      </p:sp>
    </p:spTree>
    <p:extLst>
      <p:ext uri="{BB962C8B-B14F-4D97-AF65-F5344CB8AC3E}">
        <p14:creationId xmlns:p14="http://schemas.microsoft.com/office/powerpoint/2010/main" val="1781128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en-US"/>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CE645F02-B1A8-47A4-B68A-75C930CB2ADC}" type="datetimeFigureOut">
              <a:rPr lang="en-US" smtClean="0"/>
              <a:t>2026-03-04</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ADE1FACD-0DCF-4C07-82BF-E3B39445F545}" type="slidenum">
              <a:rPr lang="en-US" smtClean="0"/>
              <a:t>‹N°›</a:t>
            </a:fld>
            <a:endParaRPr lang="en-US"/>
          </a:p>
        </p:txBody>
      </p:sp>
    </p:spTree>
    <p:extLst>
      <p:ext uri="{BB962C8B-B14F-4D97-AF65-F5344CB8AC3E}">
        <p14:creationId xmlns:p14="http://schemas.microsoft.com/office/powerpoint/2010/main" val="1741609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4"/>
          <p:cNvSpPr>
            <a:spLocks noGrp="1"/>
          </p:cNvSpPr>
          <p:nvPr>
            <p:ph type="dt" sz="half" idx="10"/>
          </p:nvPr>
        </p:nvSpPr>
        <p:spPr/>
        <p:txBody>
          <a:bodyPr/>
          <a:lstStyle/>
          <a:p>
            <a:fld id="{CE645F02-B1A8-47A4-B68A-75C930CB2ADC}" type="datetimeFigureOut">
              <a:rPr lang="en-US" smtClean="0"/>
              <a:t>2026-03-04</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ADE1FACD-0DCF-4C07-82BF-E3B39445F545}" type="slidenum">
              <a:rPr lang="en-US" smtClean="0"/>
              <a:t>‹N°›</a:t>
            </a:fld>
            <a:endParaRPr lang="en-US"/>
          </a:p>
        </p:txBody>
      </p:sp>
    </p:spTree>
    <p:extLst>
      <p:ext uri="{BB962C8B-B14F-4D97-AF65-F5344CB8AC3E}">
        <p14:creationId xmlns:p14="http://schemas.microsoft.com/office/powerpoint/2010/main" val="46520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en-US"/>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7" name="Espace réservé de la date 6"/>
          <p:cNvSpPr>
            <a:spLocks noGrp="1"/>
          </p:cNvSpPr>
          <p:nvPr>
            <p:ph type="dt" sz="half" idx="10"/>
          </p:nvPr>
        </p:nvSpPr>
        <p:spPr/>
        <p:txBody>
          <a:bodyPr/>
          <a:lstStyle/>
          <a:p>
            <a:fld id="{CE645F02-B1A8-47A4-B68A-75C930CB2ADC}" type="datetimeFigureOut">
              <a:rPr lang="en-US" smtClean="0"/>
              <a:t>2026-03-04</a:t>
            </a:fld>
            <a:endParaRPr lang="en-US"/>
          </a:p>
        </p:txBody>
      </p:sp>
      <p:sp>
        <p:nvSpPr>
          <p:cNvPr id="8" name="Espace réservé du pied de page 7"/>
          <p:cNvSpPr>
            <a:spLocks noGrp="1"/>
          </p:cNvSpPr>
          <p:nvPr>
            <p:ph type="ftr" sz="quarter" idx="11"/>
          </p:nvPr>
        </p:nvSpPr>
        <p:spPr/>
        <p:txBody>
          <a:bodyPr/>
          <a:lstStyle/>
          <a:p>
            <a:endParaRPr lang="en-US"/>
          </a:p>
        </p:txBody>
      </p:sp>
      <p:sp>
        <p:nvSpPr>
          <p:cNvPr id="9" name="Espace réservé du numéro de diapositive 8"/>
          <p:cNvSpPr>
            <a:spLocks noGrp="1"/>
          </p:cNvSpPr>
          <p:nvPr>
            <p:ph type="sldNum" sz="quarter" idx="12"/>
          </p:nvPr>
        </p:nvSpPr>
        <p:spPr/>
        <p:txBody>
          <a:bodyPr/>
          <a:lstStyle/>
          <a:p>
            <a:fld id="{ADE1FACD-0DCF-4C07-82BF-E3B39445F545}" type="slidenum">
              <a:rPr lang="en-US" smtClean="0"/>
              <a:t>‹N°›</a:t>
            </a:fld>
            <a:endParaRPr lang="en-US"/>
          </a:p>
        </p:txBody>
      </p:sp>
    </p:spTree>
    <p:extLst>
      <p:ext uri="{BB962C8B-B14F-4D97-AF65-F5344CB8AC3E}">
        <p14:creationId xmlns:p14="http://schemas.microsoft.com/office/powerpoint/2010/main" val="2152838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e la date 2"/>
          <p:cNvSpPr>
            <a:spLocks noGrp="1"/>
          </p:cNvSpPr>
          <p:nvPr>
            <p:ph type="dt" sz="half" idx="10"/>
          </p:nvPr>
        </p:nvSpPr>
        <p:spPr/>
        <p:txBody>
          <a:bodyPr/>
          <a:lstStyle/>
          <a:p>
            <a:fld id="{CE645F02-B1A8-47A4-B68A-75C930CB2ADC}" type="datetimeFigureOut">
              <a:rPr lang="en-US" smtClean="0"/>
              <a:t>2026-03-04</a:t>
            </a:fld>
            <a:endParaRPr lang="en-US"/>
          </a:p>
        </p:txBody>
      </p:sp>
      <p:sp>
        <p:nvSpPr>
          <p:cNvPr id="4" name="Espace réservé du pied de page 3"/>
          <p:cNvSpPr>
            <a:spLocks noGrp="1"/>
          </p:cNvSpPr>
          <p:nvPr>
            <p:ph type="ftr" sz="quarter" idx="11"/>
          </p:nvPr>
        </p:nvSpPr>
        <p:spPr/>
        <p:txBody>
          <a:bodyPr/>
          <a:lstStyle/>
          <a:p>
            <a:endParaRPr lang="en-US"/>
          </a:p>
        </p:txBody>
      </p:sp>
      <p:sp>
        <p:nvSpPr>
          <p:cNvPr id="5" name="Espace réservé du numéro de diapositive 4"/>
          <p:cNvSpPr>
            <a:spLocks noGrp="1"/>
          </p:cNvSpPr>
          <p:nvPr>
            <p:ph type="sldNum" sz="quarter" idx="12"/>
          </p:nvPr>
        </p:nvSpPr>
        <p:spPr/>
        <p:txBody>
          <a:bodyPr/>
          <a:lstStyle/>
          <a:p>
            <a:fld id="{ADE1FACD-0DCF-4C07-82BF-E3B39445F545}" type="slidenum">
              <a:rPr lang="en-US" smtClean="0"/>
              <a:t>‹N°›</a:t>
            </a:fld>
            <a:endParaRPr lang="en-US"/>
          </a:p>
        </p:txBody>
      </p:sp>
    </p:spTree>
    <p:extLst>
      <p:ext uri="{BB962C8B-B14F-4D97-AF65-F5344CB8AC3E}">
        <p14:creationId xmlns:p14="http://schemas.microsoft.com/office/powerpoint/2010/main" val="2547997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E645F02-B1A8-47A4-B68A-75C930CB2ADC}" type="datetimeFigureOut">
              <a:rPr lang="en-US" smtClean="0"/>
              <a:t>2026-03-04</a:t>
            </a:fld>
            <a:endParaRPr lang="en-US"/>
          </a:p>
        </p:txBody>
      </p:sp>
      <p:sp>
        <p:nvSpPr>
          <p:cNvPr id="3" name="Espace réservé du pied de page 2"/>
          <p:cNvSpPr>
            <a:spLocks noGrp="1"/>
          </p:cNvSpPr>
          <p:nvPr>
            <p:ph type="ftr" sz="quarter" idx="11"/>
          </p:nvPr>
        </p:nvSpPr>
        <p:spPr/>
        <p:txBody>
          <a:bodyPr/>
          <a:lstStyle/>
          <a:p>
            <a:endParaRPr lang="en-US"/>
          </a:p>
        </p:txBody>
      </p:sp>
      <p:sp>
        <p:nvSpPr>
          <p:cNvPr id="4" name="Espace réservé du numéro de diapositive 3"/>
          <p:cNvSpPr>
            <a:spLocks noGrp="1"/>
          </p:cNvSpPr>
          <p:nvPr>
            <p:ph type="sldNum" sz="quarter" idx="12"/>
          </p:nvPr>
        </p:nvSpPr>
        <p:spPr/>
        <p:txBody>
          <a:bodyPr/>
          <a:lstStyle/>
          <a:p>
            <a:fld id="{ADE1FACD-0DCF-4C07-82BF-E3B39445F545}" type="slidenum">
              <a:rPr lang="en-US" smtClean="0"/>
              <a:t>‹N°›</a:t>
            </a:fld>
            <a:endParaRPr lang="en-US"/>
          </a:p>
        </p:txBody>
      </p:sp>
    </p:spTree>
    <p:extLst>
      <p:ext uri="{BB962C8B-B14F-4D97-AF65-F5344CB8AC3E}">
        <p14:creationId xmlns:p14="http://schemas.microsoft.com/office/powerpoint/2010/main" val="2521081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en-US"/>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CE645F02-B1A8-47A4-B68A-75C930CB2ADC}" type="datetimeFigureOut">
              <a:rPr lang="en-US" smtClean="0"/>
              <a:t>2026-03-04</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ADE1FACD-0DCF-4C07-82BF-E3B39445F545}" type="slidenum">
              <a:rPr lang="en-US" smtClean="0"/>
              <a:t>‹N°›</a:t>
            </a:fld>
            <a:endParaRPr lang="en-US"/>
          </a:p>
        </p:txBody>
      </p:sp>
    </p:spTree>
    <p:extLst>
      <p:ext uri="{BB962C8B-B14F-4D97-AF65-F5344CB8AC3E}">
        <p14:creationId xmlns:p14="http://schemas.microsoft.com/office/powerpoint/2010/main" val="959631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en-US"/>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CE645F02-B1A8-47A4-B68A-75C930CB2ADC}" type="datetimeFigureOut">
              <a:rPr lang="en-US" smtClean="0"/>
              <a:t>2026-03-04</a:t>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ADE1FACD-0DCF-4C07-82BF-E3B39445F545}" type="slidenum">
              <a:rPr lang="en-US" smtClean="0"/>
              <a:t>‹N°›</a:t>
            </a:fld>
            <a:endParaRPr lang="en-US"/>
          </a:p>
        </p:txBody>
      </p:sp>
    </p:spTree>
    <p:extLst>
      <p:ext uri="{BB962C8B-B14F-4D97-AF65-F5344CB8AC3E}">
        <p14:creationId xmlns:p14="http://schemas.microsoft.com/office/powerpoint/2010/main" val="2948704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CE645F02-B1A8-47A4-B68A-75C930CB2ADC}" type="datetimeFigureOut">
              <a:rPr lang="en-US" smtClean="0"/>
              <a:t>2026-03-04</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ADE1FACD-0DCF-4C07-82BF-E3B39445F545}" type="slidenum">
              <a:rPr lang="en-US" smtClean="0"/>
              <a:t>‹N°›</a:t>
            </a:fld>
            <a:endParaRPr lang="en-US"/>
          </a:p>
        </p:txBody>
      </p:sp>
    </p:spTree>
    <p:extLst>
      <p:ext uri="{BB962C8B-B14F-4D97-AF65-F5344CB8AC3E}">
        <p14:creationId xmlns:p14="http://schemas.microsoft.com/office/powerpoint/2010/main" val="2750112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en-US"/>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10"/>
          </p:nvPr>
        </p:nvSpPr>
        <p:spPr/>
        <p:txBody>
          <a:bodyPr/>
          <a:lstStyle/>
          <a:p>
            <a:fld id="{CE645F02-B1A8-47A4-B68A-75C930CB2ADC}" type="datetimeFigureOut">
              <a:rPr lang="en-US" smtClean="0"/>
              <a:t>2026-03-04</a:t>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ADE1FACD-0DCF-4C07-82BF-E3B39445F545}" type="slidenum">
              <a:rPr lang="en-US" smtClean="0"/>
              <a:t>‹N°›</a:t>
            </a:fld>
            <a:endParaRPr lang="en-US"/>
          </a:p>
        </p:txBody>
      </p:sp>
    </p:spTree>
    <p:extLst>
      <p:ext uri="{BB962C8B-B14F-4D97-AF65-F5344CB8AC3E}">
        <p14:creationId xmlns:p14="http://schemas.microsoft.com/office/powerpoint/2010/main" val="1717577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en-US"/>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645F02-B1A8-47A4-B68A-75C930CB2ADC}" type="datetimeFigureOut">
              <a:rPr lang="en-US" smtClean="0"/>
              <a:t>2026-03-04</a:t>
            </a:fld>
            <a:endParaRPr lang="en-US"/>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E1FACD-0DCF-4C07-82BF-E3B39445F545}" type="slidenum">
              <a:rPr lang="en-US" smtClean="0"/>
              <a:t>‹N°›</a:t>
            </a:fld>
            <a:endParaRPr lang="en-US"/>
          </a:p>
        </p:txBody>
      </p:sp>
    </p:spTree>
    <p:extLst>
      <p:ext uri="{BB962C8B-B14F-4D97-AF65-F5344CB8AC3E}">
        <p14:creationId xmlns:p14="http://schemas.microsoft.com/office/powerpoint/2010/main" val="380758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endParaRPr lang="en-US" dirty="0"/>
          </a:p>
        </p:txBody>
      </p:sp>
      <p:sp>
        <p:nvSpPr>
          <p:cNvPr id="3" name="Sous-titr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77588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lstStyle/>
          <a:p>
            <a:r>
              <a:rPr lang="en-US" b="1" dirty="0">
                <a:latin typeface="Times New Roman" panose="02020603050405020304" pitchFamily="18" charset="0"/>
                <a:cs typeface="Times New Roman" panose="02020603050405020304" pitchFamily="18" charset="0"/>
              </a:rPr>
              <a:t>NIST Digital Forensic </a:t>
            </a:r>
            <a:r>
              <a:rPr lang="en-US" b="1" dirty="0" smtClean="0">
                <a:latin typeface="Times New Roman" panose="02020603050405020304" pitchFamily="18" charset="0"/>
                <a:cs typeface="Times New Roman" panose="02020603050405020304" pitchFamily="18" charset="0"/>
              </a:rPr>
              <a:t>Framework</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794076"/>
            <a:ext cx="10515600" cy="4382887"/>
          </a:xfrm>
        </p:spPr>
        <p:txBody>
          <a:bodyPr/>
          <a:lstStyle/>
          <a:p>
            <a:r>
              <a:rPr lang="en-US" dirty="0"/>
              <a:t>The digital forensic process widely adopted in investigations is based on guidance from the National Institute of Standards and Technology (NIST), particularly Special Publication 800-86. </a:t>
            </a:r>
            <a:endParaRPr lang="en-US" dirty="0" smtClean="0"/>
          </a:p>
          <a:p>
            <a:r>
              <a:rPr lang="en-US" dirty="0" smtClean="0"/>
              <a:t>This </a:t>
            </a:r>
            <a:r>
              <a:rPr lang="en-US" dirty="0"/>
              <a:t>framework provides a structured methodology to ensure investigations are systematic, repeatable, and legally defensible. </a:t>
            </a:r>
            <a:endParaRPr lang="en-US" dirty="0" smtClean="0"/>
          </a:p>
          <a:p>
            <a:r>
              <a:rPr lang="en-US" dirty="0" smtClean="0"/>
              <a:t>It </a:t>
            </a:r>
            <a:r>
              <a:rPr lang="en-US" dirty="0"/>
              <a:t>consists of four major phases: Collection, Examination, Analysis, and Reporting.</a:t>
            </a:r>
          </a:p>
        </p:txBody>
      </p:sp>
    </p:spTree>
    <p:extLst>
      <p:ext uri="{BB962C8B-B14F-4D97-AF65-F5344CB8AC3E}">
        <p14:creationId xmlns:p14="http://schemas.microsoft.com/office/powerpoint/2010/main" val="1541008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lstStyle/>
          <a:p>
            <a:r>
              <a:rPr lang="en-US" b="1" dirty="0">
                <a:latin typeface="Times New Roman" panose="02020603050405020304" pitchFamily="18" charset="0"/>
                <a:cs typeface="Times New Roman" panose="02020603050405020304" pitchFamily="18" charset="0"/>
              </a:rPr>
              <a:t>NIST Digital Forensic </a:t>
            </a:r>
            <a:r>
              <a:rPr lang="en-US" b="1" dirty="0" smtClean="0">
                <a:latin typeface="Times New Roman" panose="02020603050405020304" pitchFamily="18" charset="0"/>
                <a:cs typeface="Times New Roman" panose="02020603050405020304" pitchFamily="18" charset="0"/>
              </a:rPr>
              <a:t>Framework</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794076"/>
            <a:ext cx="10515600" cy="4382887"/>
          </a:xfrm>
        </p:spPr>
        <p:txBody>
          <a:bodyPr>
            <a:normAutofit fontScale="85000" lnSpcReduction="20000"/>
          </a:bodyPr>
          <a:lstStyle/>
          <a:p>
            <a:r>
              <a:rPr lang="en-US" b="1" dirty="0"/>
              <a:t>Collection Phase</a:t>
            </a:r>
          </a:p>
          <a:p>
            <a:r>
              <a:rPr lang="en-US" dirty="0"/>
              <a:t>The collection phase involves identifying, labeling, recording, and acquiring data from potential sources of digital evidence while preserving its integrity. </a:t>
            </a:r>
            <a:endParaRPr lang="en-US" dirty="0" smtClean="0"/>
          </a:p>
          <a:p>
            <a:r>
              <a:rPr lang="en-US" dirty="0" smtClean="0"/>
              <a:t>Investigators </a:t>
            </a:r>
            <a:r>
              <a:rPr lang="en-US" dirty="0"/>
              <a:t>must ensure that the evidence is not altered during acquisition. This is typically done using write blockers to prevent modification of storage media and by creating a bit-by-bit forensic image of the original device. </a:t>
            </a:r>
            <a:endParaRPr lang="en-US" dirty="0" smtClean="0"/>
          </a:p>
          <a:p>
            <a:r>
              <a:rPr lang="en-US" dirty="0" smtClean="0"/>
              <a:t>Sources </a:t>
            </a:r>
            <a:r>
              <a:rPr lang="en-US" dirty="0"/>
              <a:t>of evidence may include hard drives, RAM, USB devices, smartphones, cloud storage, and network logs. Every action taken during this phase must be thoroughly documented to preserve evidentiary value.</a:t>
            </a:r>
          </a:p>
          <a:p>
            <a:r>
              <a:rPr lang="en-US" dirty="0"/>
              <a:t>In a real-life corporate data theft case, investigators may seize a suspect’s laptop, disconnect it from the network to prevent remote tampering, and create a forensic image of the disk. Hash values are calculated before and after imaging to confirm that the copied image is identical to the original device</a:t>
            </a:r>
            <a:r>
              <a:rPr lang="en-US" dirty="0" smtClean="0"/>
              <a:t>.</a:t>
            </a:r>
          </a:p>
          <a:p>
            <a:pPr marL="0" indent="0">
              <a:buNone/>
            </a:pPr>
            <a:r>
              <a:rPr lang="en-US" b="1" dirty="0" smtClean="0"/>
              <a:t>QQ: What are write blockers? What is importance of imaging?</a:t>
            </a:r>
            <a:endParaRPr lang="en-US" b="1" dirty="0"/>
          </a:p>
        </p:txBody>
      </p:sp>
    </p:spTree>
    <p:extLst>
      <p:ext uri="{BB962C8B-B14F-4D97-AF65-F5344CB8AC3E}">
        <p14:creationId xmlns:p14="http://schemas.microsoft.com/office/powerpoint/2010/main" val="4289383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lstStyle/>
          <a:p>
            <a:r>
              <a:rPr lang="en-US" b="1" dirty="0">
                <a:latin typeface="Times New Roman" panose="02020603050405020304" pitchFamily="18" charset="0"/>
                <a:cs typeface="Times New Roman" panose="02020603050405020304" pitchFamily="18" charset="0"/>
              </a:rPr>
              <a:t>NIST Digital Forensic </a:t>
            </a:r>
            <a:r>
              <a:rPr lang="en-US" b="1" dirty="0" smtClean="0">
                <a:latin typeface="Times New Roman" panose="02020603050405020304" pitchFamily="18" charset="0"/>
                <a:cs typeface="Times New Roman" panose="02020603050405020304" pitchFamily="18" charset="0"/>
              </a:rPr>
              <a:t>Framework</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794076"/>
            <a:ext cx="10515600" cy="4382887"/>
          </a:xfrm>
        </p:spPr>
        <p:txBody>
          <a:bodyPr>
            <a:normAutofit fontScale="85000" lnSpcReduction="20000"/>
          </a:bodyPr>
          <a:lstStyle/>
          <a:p>
            <a:r>
              <a:rPr lang="en-US" b="1" dirty="0"/>
              <a:t>Examination Phase</a:t>
            </a:r>
          </a:p>
          <a:p>
            <a:r>
              <a:rPr lang="en-US" dirty="0"/>
              <a:t>The examination phase involves processing the collected data to extract relevant information. </a:t>
            </a:r>
            <a:endParaRPr lang="en-US" dirty="0" smtClean="0"/>
          </a:p>
          <a:p>
            <a:r>
              <a:rPr lang="en-US" dirty="0" smtClean="0"/>
              <a:t>During </a:t>
            </a:r>
            <a:r>
              <a:rPr lang="en-US" dirty="0"/>
              <a:t>this phase, forensic analysts use specialized tools to recover deleted files, extract email communications, analyze browser histories, inspect registry entries, and examine file metadata. </a:t>
            </a:r>
            <a:endParaRPr lang="en-US" dirty="0" smtClean="0"/>
          </a:p>
          <a:p>
            <a:r>
              <a:rPr lang="en-US" dirty="0" smtClean="0"/>
              <a:t>Techniques </a:t>
            </a:r>
            <a:r>
              <a:rPr lang="en-US" dirty="0"/>
              <a:t>such as keyword searches, file carving, and timeline reconstruction are commonly employed to identify artifacts relevant to the investigation.</a:t>
            </a:r>
          </a:p>
          <a:p>
            <a:r>
              <a:rPr lang="en-US" dirty="0"/>
              <a:t>For example, in a ransomware investigation, examiners may search for malicious executables, review system logs to identify the infection vector, and examine persistence mechanisms used by the malware. </a:t>
            </a:r>
            <a:endParaRPr lang="en-US" dirty="0" smtClean="0"/>
          </a:p>
          <a:p>
            <a:r>
              <a:rPr lang="en-US" dirty="0" smtClean="0"/>
              <a:t>The </a:t>
            </a:r>
            <a:r>
              <a:rPr lang="en-US" dirty="0"/>
              <a:t>objective is to isolate digital artifacts that contribute to understanding what occurred.</a:t>
            </a:r>
          </a:p>
        </p:txBody>
      </p:sp>
    </p:spTree>
    <p:extLst>
      <p:ext uri="{BB962C8B-B14F-4D97-AF65-F5344CB8AC3E}">
        <p14:creationId xmlns:p14="http://schemas.microsoft.com/office/powerpoint/2010/main" val="1977293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lstStyle/>
          <a:p>
            <a:r>
              <a:rPr lang="en-US" b="1" dirty="0">
                <a:latin typeface="Times New Roman" panose="02020603050405020304" pitchFamily="18" charset="0"/>
                <a:cs typeface="Times New Roman" panose="02020603050405020304" pitchFamily="18" charset="0"/>
              </a:rPr>
              <a:t>NIST Digital Forensic </a:t>
            </a:r>
            <a:r>
              <a:rPr lang="en-US" b="1" dirty="0" smtClean="0">
                <a:latin typeface="Times New Roman" panose="02020603050405020304" pitchFamily="18" charset="0"/>
                <a:cs typeface="Times New Roman" panose="02020603050405020304" pitchFamily="18" charset="0"/>
              </a:rPr>
              <a:t>Framework</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794076"/>
            <a:ext cx="10515600" cy="4618299"/>
          </a:xfrm>
        </p:spPr>
        <p:txBody>
          <a:bodyPr>
            <a:normAutofit fontScale="92500" lnSpcReduction="10000"/>
          </a:bodyPr>
          <a:lstStyle/>
          <a:p>
            <a:r>
              <a:rPr lang="en-US" b="1" dirty="0"/>
              <a:t>Analysis Phase</a:t>
            </a:r>
          </a:p>
          <a:p>
            <a:r>
              <a:rPr lang="en-US" dirty="0"/>
              <a:t>The analysis phase focuses on interpreting the extracted data to reconstruct events and draw logical conclusions. </a:t>
            </a:r>
            <a:endParaRPr lang="en-US" dirty="0" smtClean="0"/>
          </a:p>
          <a:p>
            <a:r>
              <a:rPr lang="en-US" dirty="0" smtClean="0"/>
              <a:t>Investigators </a:t>
            </a:r>
            <a:r>
              <a:rPr lang="en-US" dirty="0"/>
              <a:t>correlate multiple data sources such as system logs, network traffic, file timestamps, and user account activity to determine the sequence of events. </a:t>
            </a:r>
            <a:endParaRPr lang="en-US" dirty="0" smtClean="0"/>
          </a:p>
          <a:p>
            <a:r>
              <a:rPr lang="en-US" dirty="0" smtClean="0"/>
              <a:t>This </a:t>
            </a:r>
            <a:r>
              <a:rPr lang="en-US" dirty="0"/>
              <a:t>phase transforms raw data into meaningful evidence by establishing timelines and identifying responsible parties.</a:t>
            </a:r>
          </a:p>
          <a:p>
            <a:r>
              <a:rPr lang="en-US" dirty="0"/>
              <a:t>For instance, if logs show a user login at 10:05 AM, a USB device inserted at 10:10 AM, and confidential files copied at 10:12 AM, the analysis may conclude that the user performed unauthorized data exfiltration. </a:t>
            </a:r>
            <a:endParaRPr lang="en-US" dirty="0" smtClean="0"/>
          </a:p>
          <a:p>
            <a:r>
              <a:rPr lang="en-US" dirty="0" smtClean="0"/>
              <a:t>The </a:t>
            </a:r>
            <a:r>
              <a:rPr lang="en-US" dirty="0"/>
              <a:t>findings must be supported by documented evidence.</a:t>
            </a:r>
          </a:p>
        </p:txBody>
      </p:sp>
    </p:spTree>
    <p:extLst>
      <p:ext uri="{BB962C8B-B14F-4D97-AF65-F5344CB8AC3E}">
        <p14:creationId xmlns:p14="http://schemas.microsoft.com/office/powerpoint/2010/main" val="1516159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lstStyle/>
          <a:p>
            <a:r>
              <a:rPr lang="en-US" b="1" dirty="0">
                <a:latin typeface="Times New Roman" panose="02020603050405020304" pitchFamily="18" charset="0"/>
                <a:cs typeface="Times New Roman" panose="02020603050405020304" pitchFamily="18" charset="0"/>
              </a:rPr>
              <a:t>NIST Digital Forensic </a:t>
            </a:r>
            <a:r>
              <a:rPr lang="en-US" b="1" dirty="0" smtClean="0">
                <a:latin typeface="Times New Roman" panose="02020603050405020304" pitchFamily="18" charset="0"/>
                <a:cs typeface="Times New Roman" panose="02020603050405020304" pitchFamily="18" charset="0"/>
              </a:rPr>
              <a:t>Framework</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794076"/>
            <a:ext cx="10515600" cy="4618299"/>
          </a:xfrm>
        </p:spPr>
        <p:txBody>
          <a:bodyPr>
            <a:normAutofit lnSpcReduction="10000"/>
          </a:bodyPr>
          <a:lstStyle/>
          <a:p>
            <a:r>
              <a:rPr lang="en-US" b="1" dirty="0"/>
              <a:t>Reporting Phase</a:t>
            </a:r>
          </a:p>
          <a:p>
            <a:r>
              <a:rPr lang="en-US" dirty="0"/>
              <a:t>The reporting phase involves documenting the entire investigative process and presenting findings in a clear, structured, and legally defensible format. </a:t>
            </a:r>
            <a:endParaRPr lang="en-US" dirty="0" smtClean="0"/>
          </a:p>
          <a:p>
            <a:r>
              <a:rPr lang="en-US" dirty="0" smtClean="0"/>
              <a:t>The </a:t>
            </a:r>
            <a:r>
              <a:rPr lang="en-US" dirty="0"/>
              <a:t>report must include the scope of the investigation, tools and methodologies used, evidence discovered, hash values, timelines, and expert conclusions. </a:t>
            </a:r>
            <a:endParaRPr lang="en-US" dirty="0" smtClean="0"/>
          </a:p>
          <a:p>
            <a:r>
              <a:rPr lang="en-US" dirty="0" smtClean="0"/>
              <a:t>The </a:t>
            </a:r>
            <a:r>
              <a:rPr lang="en-US" dirty="0"/>
              <a:t>language should be understandable to non-technical stakeholders such as attorneys or judges while maintaining technical accuracy. </a:t>
            </a:r>
            <a:endParaRPr lang="en-US" dirty="0" smtClean="0"/>
          </a:p>
          <a:p>
            <a:r>
              <a:rPr lang="en-US" dirty="0" smtClean="0"/>
              <a:t>A </a:t>
            </a:r>
            <a:r>
              <a:rPr lang="en-US" dirty="0"/>
              <a:t>well-prepared report ensures that another forensic examiner could replicate the investigation and reach similar conclusions.</a:t>
            </a:r>
          </a:p>
        </p:txBody>
      </p:sp>
    </p:spTree>
    <p:extLst>
      <p:ext uri="{BB962C8B-B14F-4D97-AF65-F5344CB8AC3E}">
        <p14:creationId xmlns:p14="http://schemas.microsoft.com/office/powerpoint/2010/main" val="1619377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lstStyle/>
          <a:p>
            <a:r>
              <a:rPr lang="en-US" b="1" dirty="0">
                <a:latin typeface="Times New Roman" panose="02020603050405020304" pitchFamily="18" charset="0"/>
                <a:cs typeface="Times New Roman" panose="02020603050405020304" pitchFamily="18" charset="0"/>
              </a:rPr>
              <a:t>NIST Digital Forensic </a:t>
            </a:r>
            <a:r>
              <a:rPr lang="en-US" b="1" dirty="0" smtClean="0">
                <a:latin typeface="Times New Roman" panose="02020603050405020304" pitchFamily="18" charset="0"/>
                <a:cs typeface="Times New Roman" panose="02020603050405020304" pitchFamily="18" charset="0"/>
              </a:rPr>
              <a:t>Framework</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562582"/>
            <a:ext cx="10515600" cy="5069712"/>
          </a:xfrm>
        </p:spPr>
        <p:txBody>
          <a:bodyPr>
            <a:normAutofit fontScale="70000" lnSpcReduction="20000"/>
          </a:bodyPr>
          <a:lstStyle/>
          <a:p>
            <a:r>
              <a:rPr lang="en-US" b="1" dirty="0"/>
              <a:t>Chain of Custody</a:t>
            </a:r>
          </a:p>
          <a:p>
            <a:r>
              <a:rPr lang="en-US" dirty="0"/>
              <a:t>Chain of custody refers to the chronological documentation that records the handling, transfer, storage, and analysis of digital evidence from the moment it is collected until it is presented in court. </a:t>
            </a:r>
            <a:endParaRPr lang="en-US" dirty="0" smtClean="0"/>
          </a:p>
          <a:p>
            <a:r>
              <a:rPr lang="en-US" dirty="0" smtClean="0"/>
              <a:t>This </a:t>
            </a:r>
            <a:r>
              <a:rPr lang="en-US" dirty="0"/>
              <a:t>documentation establishes accountability and ensures that the evidence has not been altered or tampered with during the investigation process.</a:t>
            </a:r>
          </a:p>
          <a:p>
            <a:r>
              <a:rPr lang="en-US" dirty="0"/>
              <a:t>A proper chain of custody record includes details such as the case identification number, description of the evidence, serial numbers, date and time of collection, the individual who collected it, transfer history, storage location, and signatures of all individuals who handled the evidence. Each transfer must be documented with precise timestamps.</a:t>
            </a:r>
          </a:p>
          <a:p>
            <a:r>
              <a:rPr lang="en-US" dirty="0"/>
              <a:t>In a fraud prosecution case, if the defense argues that digital evidence was manipulated, the prosecution can present a complete chain of custody log showing every individual who handled the evidence and when. </a:t>
            </a:r>
            <a:endParaRPr lang="en-US" dirty="0" smtClean="0"/>
          </a:p>
          <a:p>
            <a:r>
              <a:rPr lang="en-US" dirty="0" smtClean="0"/>
              <a:t>If </a:t>
            </a:r>
            <a:r>
              <a:rPr lang="en-US" dirty="0"/>
              <a:t>the documentation is accurate and complete, the court is more likely to admit the evidence. However, if there are unexplained gaps in the record, the evidence may be deemed inadmissible</a:t>
            </a:r>
            <a:r>
              <a:rPr lang="en-US" dirty="0" smtClean="0"/>
              <a:t>.</a:t>
            </a:r>
          </a:p>
          <a:p>
            <a:endParaRPr lang="en-US" dirty="0" smtClean="0"/>
          </a:p>
          <a:p>
            <a:r>
              <a:rPr lang="en-US" b="1" dirty="0" smtClean="0"/>
              <a:t>QQ: Who is allowed to handle evidence in an investigation?</a:t>
            </a:r>
            <a:endParaRPr lang="en-US" b="1" dirty="0"/>
          </a:p>
        </p:txBody>
      </p:sp>
    </p:spTree>
    <p:extLst>
      <p:ext uri="{BB962C8B-B14F-4D97-AF65-F5344CB8AC3E}">
        <p14:creationId xmlns:p14="http://schemas.microsoft.com/office/powerpoint/2010/main" val="2983424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lstStyle/>
          <a:p>
            <a:r>
              <a:rPr lang="en-US" b="1" dirty="0">
                <a:latin typeface="Times New Roman" panose="02020603050405020304" pitchFamily="18" charset="0"/>
                <a:cs typeface="Times New Roman" panose="02020603050405020304" pitchFamily="18" charset="0"/>
              </a:rPr>
              <a:t>NIST Digital Forensic </a:t>
            </a:r>
            <a:r>
              <a:rPr lang="en-US" b="1" dirty="0" smtClean="0">
                <a:latin typeface="Times New Roman" panose="02020603050405020304" pitchFamily="18" charset="0"/>
                <a:cs typeface="Times New Roman" panose="02020603050405020304" pitchFamily="18" charset="0"/>
              </a:rPr>
              <a:t>Framework</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562582"/>
            <a:ext cx="10515600" cy="5069712"/>
          </a:xfrm>
        </p:spPr>
        <p:txBody>
          <a:bodyPr>
            <a:normAutofit fontScale="92500" lnSpcReduction="10000"/>
          </a:bodyPr>
          <a:lstStyle/>
          <a:p>
            <a:r>
              <a:rPr lang="en-US" b="1" dirty="0"/>
              <a:t>Evidence Integrity</a:t>
            </a:r>
          </a:p>
          <a:p>
            <a:r>
              <a:rPr lang="en-US" dirty="0"/>
              <a:t>Evidence integrity refers to maintaining the original state of digital evidence so that it remains authentic and unaltered throughout the investigative lifecycle. </a:t>
            </a:r>
            <a:endParaRPr lang="en-US" dirty="0" smtClean="0"/>
          </a:p>
          <a:p>
            <a:r>
              <a:rPr lang="en-US" dirty="0" smtClean="0"/>
              <a:t>Preserving </a:t>
            </a:r>
            <a:r>
              <a:rPr lang="en-US" dirty="0"/>
              <a:t>integrity is fundamental to ensuring admissibility in court and maintaining investigative credibility.</a:t>
            </a:r>
          </a:p>
          <a:p>
            <a:r>
              <a:rPr lang="en-US" dirty="0"/>
              <a:t>Integrity is preserved by creating forensic images rather than analyzing original devices, using write blockers to prevent modification, storing evidence in tamper-evident bags, restricting access to authorized personnel, and calculating cryptographic hash values before and after analysis. </a:t>
            </a:r>
            <a:endParaRPr lang="en-US" dirty="0" smtClean="0"/>
          </a:p>
          <a:p>
            <a:endParaRPr lang="en-US" dirty="0" smtClean="0"/>
          </a:p>
          <a:p>
            <a:r>
              <a:rPr lang="en-US" b="1" dirty="0" smtClean="0"/>
              <a:t>QQ: Why not analyze original data but the image instead?</a:t>
            </a:r>
            <a:endParaRPr lang="en-US" b="1" dirty="0"/>
          </a:p>
        </p:txBody>
      </p:sp>
    </p:spTree>
    <p:extLst>
      <p:ext uri="{BB962C8B-B14F-4D97-AF65-F5344CB8AC3E}">
        <p14:creationId xmlns:p14="http://schemas.microsoft.com/office/powerpoint/2010/main" val="4198805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lstStyle/>
          <a:p>
            <a:r>
              <a:rPr lang="en-US" b="1" dirty="0">
                <a:latin typeface="Times New Roman" panose="02020603050405020304" pitchFamily="18" charset="0"/>
                <a:cs typeface="Times New Roman" panose="02020603050405020304" pitchFamily="18" charset="0"/>
              </a:rPr>
              <a:t>NIST Digital Forensic </a:t>
            </a:r>
            <a:r>
              <a:rPr lang="en-US" b="1" dirty="0" smtClean="0">
                <a:latin typeface="Times New Roman" panose="02020603050405020304" pitchFamily="18" charset="0"/>
                <a:cs typeface="Times New Roman" panose="02020603050405020304" pitchFamily="18" charset="0"/>
              </a:rPr>
              <a:t>Framework</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562582"/>
            <a:ext cx="10515600" cy="5069712"/>
          </a:xfrm>
        </p:spPr>
        <p:txBody>
          <a:bodyPr>
            <a:normAutofit fontScale="85000" lnSpcReduction="20000"/>
          </a:bodyPr>
          <a:lstStyle/>
          <a:p>
            <a:r>
              <a:rPr lang="en-US" b="1" dirty="0"/>
              <a:t>Evidence Integrity</a:t>
            </a:r>
          </a:p>
          <a:p>
            <a:r>
              <a:rPr lang="en-US" dirty="0"/>
              <a:t>There are two primary acquisition approaches: static acquisition and live acquisition. </a:t>
            </a:r>
            <a:endParaRPr lang="en-US" dirty="0" smtClean="0"/>
          </a:p>
          <a:p>
            <a:pPr lvl="1"/>
            <a:r>
              <a:rPr lang="en-US" sz="2800" dirty="0" smtClean="0"/>
              <a:t>Static </a:t>
            </a:r>
            <a:r>
              <a:rPr lang="en-US" sz="2800" dirty="0"/>
              <a:t>acquisition occurs when a device is powered off before imaging, minimizing the risk of data alteration. </a:t>
            </a:r>
            <a:endParaRPr lang="en-US" sz="2800" dirty="0" smtClean="0"/>
          </a:p>
          <a:p>
            <a:pPr lvl="1"/>
            <a:r>
              <a:rPr lang="en-US" sz="2800" dirty="0" smtClean="0"/>
              <a:t>Live </a:t>
            </a:r>
            <a:r>
              <a:rPr lang="en-US" sz="2800" dirty="0"/>
              <a:t>acquisition is performed while a system is running, typically to capture volatile data such as RAM contents, active processes, and network connections. </a:t>
            </a:r>
            <a:endParaRPr lang="en-US" sz="2800" dirty="0" smtClean="0"/>
          </a:p>
          <a:p>
            <a:r>
              <a:rPr lang="en-US" dirty="0" smtClean="0"/>
              <a:t>Although </a:t>
            </a:r>
            <a:r>
              <a:rPr lang="en-US" dirty="0"/>
              <a:t>live acquisition may alter certain system artifacts, it is often necessary in incidents such as ransomware attacks where volatile memory contains critical encryption keys.</a:t>
            </a:r>
          </a:p>
          <a:p>
            <a:r>
              <a:rPr lang="en-US" dirty="0"/>
              <a:t>In a malware investigation, forensic practitioners may first capture volatile memory to preserve running processes, then create a disk image and verify hash values. If the hashes remain consistent throughout the investigation, the integrity of the evidence is confirmed</a:t>
            </a:r>
            <a:r>
              <a:rPr lang="en-US" dirty="0" smtClean="0"/>
              <a:t>.</a:t>
            </a:r>
          </a:p>
          <a:p>
            <a:r>
              <a:rPr lang="en-US" b="1" dirty="0" smtClean="0"/>
              <a:t>QQ: Why capture certain evidence live and others static?</a:t>
            </a:r>
            <a:endParaRPr lang="en-US" b="1" dirty="0"/>
          </a:p>
        </p:txBody>
      </p:sp>
    </p:spTree>
    <p:extLst>
      <p:ext uri="{BB962C8B-B14F-4D97-AF65-F5344CB8AC3E}">
        <p14:creationId xmlns:p14="http://schemas.microsoft.com/office/powerpoint/2010/main" val="4193313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lstStyle/>
          <a:p>
            <a:r>
              <a:rPr lang="en-US" b="1" dirty="0">
                <a:latin typeface="Times New Roman" panose="02020603050405020304" pitchFamily="18" charset="0"/>
                <a:cs typeface="Times New Roman" panose="02020603050405020304" pitchFamily="18" charset="0"/>
              </a:rPr>
              <a:t>NIST Digital Forensic </a:t>
            </a:r>
            <a:r>
              <a:rPr lang="en-US" b="1" dirty="0" smtClean="0">
                <a:latin typeface="Times New Roman" panose="02020603050405020304" pitchFamily="18" charset="0"/>
                <a:cs typeface="Times New Roman" panose="02020603050405020304" pitchFamily="18" charset="0"/>
              </a:rPr>
              <a:t>Framework</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562582"/>
            <a:ext cx="10515600" cy="5069712"/>
          </a:xfrm>
        </p:spPr>
        <p:txBody>
          <a:bodyPr>
            <a:normAutofit fontScale="85000" lnSpcReduction="20000"/>
          </a:bodyPr>
          <a:lstStyle/>
          <a:p>
            <a:r>
              <a:rPr lang="en-US" b="1" dirty="0"/>
              <a:t>Hashing Basics</a:t>
            </a:r>
          </a:p>
          <a:p>
            <a:r>
              <a:rPr lang="en-US" dirty="0"/>
              <a:t>Hashing is the process of using a mathematical algorithm to convert data into a fixed-length string of characters known as a hash value or digest. This hash acts as a unique digital fingerprint of the data. </a:t>
            </a:r>
            <a:endParaRPr lang="en-US" dirty="0" smtClean="0"/>
          </a:p>
          <a:p>
            <a:r>
              <a:rPr lang="en-US" dirty="0" smtClean="0"/>
              <a:t>Common </a:t>
            </a:r>
            <a:r>
              <a:rPr lang="en-US" dirty="0"/>
              <a:t>hashing algorithms used in digital forensics include MD5, SHA-1, and SHA-256. Although MD5 and SHA-1 were widely used historically, they are now considered vulnerable to collisions. </a:t>
            </a:r>
            <a:endParaRPr lang="en-US" dirty="0" smtClean="0"/>
          </a:p>
          <a:p>
            <a:r>
              <a:rPr lang="en-US" dirty="0" smtClean="0"/>
              <a:t>SHA-256</a:t>
            </a:r>
            <a:r>
              <a:rPr lang="en-US" dirty="0"/>
              <a:t>, part of the Secure Hash Algorithm family developed under standards by the National Security Agency, is currently recommended because of its stronger resistance to collisions.</a:t>
            </a:r>
          </a:p>
          <a:p>
            <a:r>
              <a:rPr lang="en-US" dirty="0"/>
              <a:t>Hashing plays a critical role in verifying evidence integrity. When a forensic image is created, the investigator computes a hash of both the original device and the forensic copy. If the two hash values match exactly, it confirms that the image is an exact duplicate. If they differ, it indicates potential tampering or corruption</a:t>
            </a:r>
            <a:r>
              <a:rPr lang="en-US" dirty="0" smtClean="0"/>
              <a:t>.</a:t>
            </a:r>
          </a:p>
          <a:p>
            <a:r>
              <a:rPr lang="en-US" b="1" dirty="0" smtClean="0"/>
              <a:t>QQ: With algorithms like MD5 is it possible for someone to tamper with evidence? If yes, how?</a:t>
            </a:r>
            <a:endParaRPr lang="en-US" b="1" dirty="0"/>
          </a:p>
        </p:txBody>
      </p:sp>
    </p:spTree>
    <p:extLst>
      <p:ext uri="{BB962C8B-B14F-4D97-AF65-F5344CB8AC3E}">
        <p14:creationId xmlns:p14="http://schemas.microsoft.com/office/powerpoint/2010/main" val="2819618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lstStyle/>
          <a:p>
            <a:r>
              <a:rPr lang="en-US" b="1" dirty="0">
                <a:latin typeface="Times New Roman" panose="02020603050405020304" pitchFamily="18" charset="0"/>
                <a:cs typeface="Times New Roman" panose="02020603050405020304" pitchFamily="18" charset="0"/>
              </a:rPr>
              <a:t>NIST Digital Forensic </a:t>
            </a:r>
            <a:r>
              <a:rPr lang="en-US" b="1" dirty="0" smtClean="0">
                <a:latin typeface="Times New Roman" panose="02020603050405020304" pitchFamily="18" charset="0"/>
                <a:cs typeface="Times New Roman" panose="02020603050405020304" pitchFamily="18" charset="0"/>
              </a:rPr>
              <a:t>Framework</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562582"/>
            <a:ext cx="10515600" cy="5069712"/>
          </a:xfrm>
        </p:spPr>
        <p:txBody>
          <a:bodyPr>
            <a:normAutofit fontScale="85000" lnSpcReduction="20000"/>
          </a:bodyPr>
          <a:lstStyle/>
          <a:p>
            <a:r>
              <a:rPr lang="en-US" b="1" dirty="0"/>
              <a:t>Hashing Basics</a:t>
            </a:r>
          </a:p>
          <a:p>
            <a:r>
              <a:rPr lang="en-US" dirty="0"/>
              <a:t>Hashing is the process of using a mathematical algorithm to convert data into a fixed-length string of characters known as a hash value or digest. This hash acts as a unique digital fingerprint of the data. </a:t>
            </a:r>
            <a:endParaRPr lang="en-US" dirty="0" smtClean="0"/>
          </a:p>
          <a:p>
            <a:r>
              <a:rPr lang="en-US" dirty="0" smtClean="0"/>
              <a:t>Common </a:t>
            </a:r>
            <a:r>
              <a:rPr lang="en-US" dirty="0"/>
              <a:t>hashing algorithms used in digital forensics include MD5, SHA-1, and SHA-256. Although MD5 and SHA-1 were widely used historically, they are now considered vulnerable to collisions. </a:t>
            </a:r>
            <a:endParaRPr lang="en-US" dirty="0" smtClean="0"/>
          </a:p>
          <a:p>
            <a:r>
              <a:rPr lang="en-US" dirty="0" smtClean="0"/>
              <a:t>SHA-256</a:t>
            </a:r>
            <a:r>
              <a:rPr lang="en-US" dirty="0"/>
              <a:t>, part of the Secure Hash Algorithm family developed under standards by the National Security Agency, is currently recommended because of its stronger resistance to collisions.</a:t>
            </a:r>
          </a:p>
          <a:p>
            <a:r>
              <a:rPr lang="en-US" dirty="0"/>
              <a:t>Hashing plays a critical role in verifying evidence integrity. When a forensic image is created, the investigator computes a hash of both the original device and the forensic copy. If the two hash values match exactly, it confirms that the image is an exact duplicate. If they differ, it indicates potential tampering or corruption</a:t>
            </a:r>
            <a:r>
              <a:rPr lang="en-US" dirty="0" smtClean="0"/>
              <a:t>.</a:t>
            </a:r>
          </a:p>
          <a:p>
            <a:r>
              <a:rPr lang="en-US" b="1" dirty="0" smtClean="0"/>
              <a:t>QQ: With algorithms like MD5 is it possible for someone to tamper with evidence? If yes, how?</a:t>
            </a:r>
            <a:endParaRPr lang="en-US" b="1" dirty="0"/>
          </a:p>
        </p:txBody>
      </p:sp>
    </p:spTree>
    <p:extLst>
      <p:ext uri="{BB962C8B-B14F-4D97-AF65-F5344CB8AC3E}">
        <p14:creationId xmlns:p14="http://schemas.microsoft.com/office/powerpoint/2010/main" val="3107757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lstStyle/>
          <a:p>
            <a:r>
              <a:rPr lang="en-US" b="1" dirty="0">
                <a:latin typeface="Times New Roman" panose="02020603050405020304" pitchFamily="18" charset="0"/>
                <a:cs typeface="Times New Roman" panose="02020603050405020304" pitchFamily="18" charset="0"/>
              </a:rPr>
              <a:t>NIST Digital Forensic </a:t>
            </a:r>
            <a:r>
              <a:rPr lang="en-US" b="1" dirty="0" smtClean="0">
                <a:latin typeface="Times New Roman" panose="02020603050405020304" pitchFamily="18" charset="0"/>
                <a:cs typeface="Times New Roman" panose="02020603050405020304" pitchFamily="18" charset="0"/>
              </a:rPr>
              <a:t>Framework</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562582"/>
            <a:ext cx="10515600" cy="5069712"/>
          </a:xfrm>
        </p:spPr>
        <p:txBody>
          <a:bodyPr>
            <a:normAutofit fontScale="85000" lnSpcReduction="20000"/>
          </a:bodyPr>
          <a:lstStyle/>
          <a:p>
            <a:r>
              <a:rPr lang="en-US" b="1" dirty="0"/>
              <a:t>Hashing Basics</a:t>
            </a:r>
          </a:p>
          <a:p>
            <a:r>
              <a:rPr lang="en-US" dirty="0"/>
              <a:t>Hashing is the process of using a mathematical algorithm to convert data into a fixed-length string of characters known as a hash value or digest. This hash acts as a unique digital fingerprint of the data. </a:t>
            </a:r>
            <a:endParaRPr lang="en-US" dirty="0" smtClean="0"/>
          </a:p>
          <a:p>
            <a:r>
              <a:rPr lang="en-US" dirty="0" smtClean="0"/>
              <a:t>Common </a:t>
            </a:r>
            <a:r>
              <a:rPr lang="en-US" dirty="0"/>
              <a:t>hashing algorithms used in digital forensics include MD5, SHA-1, and SHA-256. Although MD5 and SHA-1 were widely used historically, they are now considered vulnerable to collisions. </a:t>
            </a:r>
            <a:endParaRPr lang="en-US" dirty="0" smtClean="0"/>
          </a:p>
          <a:p>
            <a:r>
              <a:rPr lang="en-US" dirty="0" smtClean="0"/>
              <a:t>SHA-256</a:t>
            </a:r>
            <a:r>
              <a:rPr lang="en-US" dirty="0"/>
              <a:t>, part of the Secure Hash Algorithm family developed under standards by the National Security Agency, is currently recommended because of its stronger resistance to collisions.</a:t>
            </a:r>
          </a:p>
          <a:p>
            <a:r>
              <a:rPr lang="en-US" dirty="0"/>
              <a:t>Hashing plays a critical role in verifying evidence integrity. When a forensic image is created, the investigator computes a hash of both the original device and the forensic copy. If the two hash values match exactly, it confirms that the image is an exact duplicate. If they differ, it indicates potential tampering or corruption</a:t>
            </a:r>
            <a:r>
              <a:rPr lang="en-US" dirty="0" smtClean="0"/>
              <a:t>.</a:t>
            </a:r>
          </a:p>
          <a:p>
            <a:r>
              <a:rPr lang="en-US" b="1" dirty="0" smtClean="0"/>
              <a:t>QQ: With algorithms like MD5 is it possible for someone to tamper with evidence? If yes, how?</a:t>
            </a:r>
            <a:endParaRPr lang="en-US" b="1" dirty="0"/>
          </a:p>
        </p:txBody>
      </p:sp>
    </p:spTree>
    <p:extLst>
      <p:ext uri="{BB962C8B-B14F-4D97-AF65-F5344CB8AC3E}">
        <p14:creationId xmlns:p14="http://schemas.microsoft.com/office/powerpoint/2010/main" val="467671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lstStyle/>
          <a:p>
            <a:r>
              <a:rPr lang="en-US" b="1" dirty="0">
                <a:latin typeface="Times New Roman" panose="02020603050405020304" pitchFamily="18" charset="0"/>
                <a:cs typeface="Times New Roman" panose="02020603050405020304" pitchFamily="18" charset="0"/>
              </a:rPr>
              <a:t>NIST Digital Forensic </a:t>
            </a:r>
            <a:r>
              <a:rPr lang="en-US" b="1" dirty="0" smtClean="0">
                <a:latin typeface="Times New Roman" panose="02020603050405020304" pitchFamily="18" charset="0"/>
                <a:cs typeface="Times New Roman" panose="02020603050405020304" pitchFamily="18" charset="0"/>
              </a:rPr>
              <a:t>Framework</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562582"/>
            <a:ext cx="10515600" cy="5069712"/>
          </a:xfrm>
        </p:spPr>
        <p:txBody>
          <a:bodyPr>
            <a:normAutofit/>
          </a:bodyPr>
          <a:lstStyle/>
          <a:p>
            <a:r>
              <a:rPr lang="en-US" b="1" dirty="0" smtClean="0"/>
              <a:t>Change Of Custody Mock Exercise</a:t>
            </a:r>
            <a:endParaRPr lang="en-US" b="1" dirty="0"/>
          </a:p>
          <a:p>
            <a:r>
              <a:rPr lang="en-US" dirty="0"/>
              <a:t>You are a digital forensic investigator assigned to investigate suspected insider data theft within a financial services company. Management reports that confidential client records were leaked. </a:t>
            </a:r>
            <a:endParaRPr lang="en-US" dirty="0" smtClean="0"/>
          </a:p>
          <a:p>
            <a:r>
              <a:rPr lang="en-US" dirty="0" smtClean="0"/>
              <a:t>Suspicion </a:t>
            </a:r>
            <a:r>
              <a:rPr lang="en-US" dirty="0"/>
              <a:t>falls on an employee in the accounting department. The employee’s workstation and a USB flash drive found at their desk are to be seized as evidence.</a:t>
            </a:r>
          </a:p>
          <a:p>
            <a:r>
              <a:rPr lang="en-US" b="1" dirty="0"/>
              <a:t>Your task is to properly document and maintain the chain of custody from seizure to storage in the forensic lab.</a:t>
            </a:r>
          </a:p>
        </p:txBody>
      </p:sp>
    </p:spTree>
    <p:extLst>
      <p:ext uri="{BB962C8B-B14F-4D97-AF65-F5344CB8AC3E}">
        <p14:creationId xmlns:p14="http://schemas.microsoft.com/office/powerpoint/2010/main" val="830361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lstStyle/>
          <a:p>
            <a:r>
              <a:rPr lang="en-US" b="1" dirty="0">
                <a:latin typeface="Times New Roman" panose="02020603050405020304" pitchFamily="18" charset="0"/>
                <a:cs typeface="Times New Roman" panose="02020603050405020304" pitchFamily="18" charset="0"/>
              </a:rPr>
              <a:t>NIST Digital Forensic </a:t>
            </a:r>
            <a:r>
              <a:rPr lang="en-US" b="1" dirty="0" smtClean="0">
                <a:latin typeface="Times New Roman" panose="02020603050405020304" pitchFamily="18" charset="0"/>
                <a:cs typeface="Times New Roman" panose="02020603050405020304" pitchFamily="18" charset="0"/>
              </a:rPr>
              <a:t>Framework</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562582"/>
            <a:ext cx="10515600" cy="5069712"/>
          </a:xfrm>
        </p:spPr>
        <p:txBody>
          <a:bodyPr>
            <a:normAutofit/>
          </a:bodyPr>
          <a:lstStyle/>
          <a:p>
            <a:r>
              <a:rPr lang="en-US" b="1" dirty="0"/>
              <a:t>Step 1: Identification of </a:t>
            </a:r>
            <a:r>
              <a:rPr lang="en-US" b="1" dirty="0" smtClean="0"/>
              <a:t>Evidence</a:t>
            </a:r>
          </a:p>
          <a:p>
            <a:r>
              <a:rPr lang="en-US" b="1" dirty="0"/>
              <a:t>Step 2: Collection of Evidence</a:t>
            </a:r>
          </a:p>
          <a:p>
            <a:r>
              <a:rPr lang="en-US" b="1" dirty="0" smtClean="0"/>
              <a:t>Step 3: Initial Hash Documentation</a:t>
            </a:r>
          </a:p>
          <a:p>
            <a:r>
              <a:rPr lang="en-US" b="1" dirty="0"/>
              <a:t>Step 4: Transfer to Forensic </a:t>
            </a:r>
            <a:r>
              <a:rPr lang="en-US" b="1" dirty="0" smtClean="0"/>
              <a:t>Laboratory</a:t>
            </a:r>
          </a:p>
          <a:p>
            <a:r>
              <a:rPr lang="en-US" b="1" dirty="0"/>
              <a:t>Step 5: Secure Storage</a:t>
            </a:r>
          </a:p>
          <a:p>
            <a:r>
              <a:rPr lang="en-US" b="1" dirty="0" smtClean="0"/>
              <a:t>Step 6: Imaging and Return to Storage </a:t>
            </a:r>
            <a:endParaRPr lang="en-US" b="1" dirty="0"/>
          </a:p>
          <a:p>
            <a:endParaRPr lang="en-US" b="1" dirty="0" smtClean="0"/>
          </a:p>
          <a:p>
            <a:endParaRPr lang="en-US" b="1" dirty="0"/>
          </a:p>
        </p:txBody>
      </p:sp>
    </p:spTree>
    <p:extLst>
      <p:ext uri="{BB962C8B-B14F-4D97-AF65-F5344CB8AC3E}">
        <p14:creationId xmlns:p14="http://schemas.microsoft.com/office/powerpoint/2010/main" val="822316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9660038" cy="1035412"/>
          </a:xfrm>
        </p:spPr>
        <p:txBody>
          <a:bodyPr/>
          <a:lstStyle/>
          <a:p>
            <a:pPr algn="ctr"/>
            <a:r>
              <a:rPr lang="en-US" b="1" dirty="0">
                <a:latin typeface="Times New Roman" panose="02020603050405020304" pitchFamily="18" charset="0"/>
                <a:cs typeface="Times New Roman" panose="02020603050405020304" pitchFamily="18" charset="0"/>
              </a:rPr>
              <a:t>NIST Digital Forensic </a:t>
            </a:r>
            <a:r>
              <a:rPr lang="en-US" b="1" dirty="0" smtClean="0">
                <a:latin typeface="Times New Roman" panose="02020603050405020304" pitchFamily="18" charset="0"/>
                <a:cs typeface="Times New Roman" panose="02020603050405020304" pitchFamily="18" charset="0"/>
              </a:rPr>
              <a:t>Framework</a:t>
            </a:r>
            <a:endParaRPr lang="en-US" b="1" dirty="0">
              <a:latin typeface="Times New Roman" panose="02020603050405020304" pitchFamily="18" charset="0"/>
              <a:cs typeface="Times New Roman" panose="02020603050405020304" pitchFamily="18" charset="0"/>
            </a:endParaRPr>
          </a:p>
        </p:txBody>
      </p:sp>
      <p:graphicFrame>
        <p:nvGraphicFramePr>
          <p:cNvPr id="4" name="Tableau 3"/>
          <p:cNvGraphicFramePr>
            <a:graphicFrameLocks noGrp="1"/>
          </p:cNvGraphicFramePr>
          <p:nvPr>
            <p:extLst>
              <p:ext uri="{D42A27DB-BD31-4B8C-83A1-F6EECF244321}">
                <p14:modId xmlns:p14="http://schemas.microsoft.com/office/powerpoint/2010/main" val="1157622586"/>
              </p:ext>
            </p:extLst>
          </p:nvPr>
        </p:nvGraphicFramePr>
        <p:xfrm>
          <a:off x="1967697" y="1446841"/>
          <a:ext cx="7974956" cy="4803487"/>
        </p:xfrm>
        <a:graphic>
          <a:graphicData uri="http://schemas.openxmlformats.org/drawingml/2006/table">
            <a:tbl>
              <a:tblPr firstRow="1" firstCol="1" bandRow="1">
                <a:tableStyleId>{5C22544A-7EE6-4342-B048-85BDC9FD1C3A}</a:tableStyleId>
              </a:tblPr>
              <a:tblGrid>
                <a:gridCol w="3064668">
                  <a:extLst>
                    <a:ext uri="{9D8B030D-6E8A-4147-A177-3AD203B41FA5}">
                      <a16:colId xmlns:a16="http://schemas.microsoft.com/office/drawing/2014/main" val="1353977509"/>
                    </a:ext>
                  </a:extLst>
                </a:gridCol>
                <a:gridCol w="4910288">
                  <a:extLst>
                    <a:ext uri="{9D8B030D-6E8A-4147-A177-3AD203B41FA5}">
                      <a16:colId xmlns:a16="http://schemas.microsoft.com/office/drawing/2014/main" val="2507721397"/>
                    </a:ext>
                  </a:extLst>
                </a:gridCol>
              </a:tblGrid>
              <a:tr h="369499">
                <a:tc>
                  <a:txBody>
                    <a:bodyPr/>
                    <a:lstStyle/>
                    <a:p>
                      <a:pPr marL="0" marR="0">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Field</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Details</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5291363"/>
                  </a:ext>
                </a:extLst>
              </a:tr>
              <a:tr h="369499">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Case ID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2026-FakeCase-001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30998036"/>
                  </a:ext>
                </a:extLst>
              </a:tr>
              <a:tr h="369499">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Exhibit ID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A</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54487983"/>
                  </a:ext>
                </a:extLst>
              </a:tr>
              <a:tr h="369499">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Item Description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32GB SanDisk USB Flash Drive</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0501285"/>
                  </a:ext>
                </a:extLst>
              </a:tr>
              <a:tr h="369499">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Serial Number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SN-12345678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36297624"/>
                  </a:ext>
                </a:extLst>
              </a:tr>
              <a:tr h="369499">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Date &amp; Time Collected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04 March 2026 – 14:30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60848904"/>
                  </a:ext>
                </a:extLst>
              </a:tr>
              <a:tr h="369499">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Collected By</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Mr. X (Signed)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64853585"/>
                  </a:ext>
                </a:extLst>
              </a:tr>
              <a:tr h="369499">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Collection Location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Accounting Office, Desk 4</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51329847"/>
                  </a:ext>
                </a:extLst>
              </a:tr>
              <a:tr h="369499">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Released By</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Mr. X (15:15)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14523709"/>
                  </a:ext>
                </a:extLst>
              </a:tr>
              <a:tr h="369499">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Received By</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Ms. Y (15:20)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49115128"/>
                  </a:ext>
                </a:extLst>
              </a:tr>
              <a:tr h="369499">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Purpose of Transfer</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Transfer to Digital Forensics Lab</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80438598"/>
                  </a:ext>
                </a:extLst>
              </a:tr>
              <a:tr h="369499">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Storage Location</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Evidence Locker #12</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08540434"/>
                  </a:ext>
                </a:extLst>
              </a:tr>
              <a:tr h="369499">
                <a:tc>
                  <a:txBody>
                    <a:bodyPr/>
                    <a:lstStyle/>
                    <a:p>
                      <a:pPr marL="0" marR="0">
                        <a:lnSpc>
                          <a:spcPct val="107000"/>
                        </a:lnSpc>
                        <a:spcBef>
                          <a:spcPts val="0"/>
                        </a:spcBef>
                        <a:spcAft>
                          <a:spcPts val="0"/>
                        </a:spcAft>
                      </a:pPr>
                      <a:r>
                        <a:rPr lang="en-US" sz="1400">
                          <a:effectLst/>
                          <a:latin typeface="Times New Roman" panose="02020603050405020304" pitchFamily="18" charset="0"/>
                          <a:cs typeface="Times New Roman" panose="02020603050405020304" pitchFamily="18" charset="0"/>
                        </a:rPr>
                        <a:t>Date &amp; Time Stored</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04 March 2026 – 15:35</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13920480"/>
                  </a:ext>
                </a:extLst>
              </a:tr>
            </a:tbl>
          </a:graphicData>
        </a:graphic>
      </p:graphicFrame>
    </p:spTree>
    <p:extLst>
      <p:ext uri="{BB962C8B-B14F-4D97-AF65-F5344CB8AC3E}">
        <p14:creationId xmlns:p14="http://schemas.microsoft.com/office/powerpoint/2010/main" val="2583972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lstStyle/>
          <a:p>
            <a:r>
              <a:rPr lang="en-US" b="1" dirty="0">
                <a:latin typeface="Times New Roman" panose="02020603050405020304" pitchFamily="18" charset="0"/>
                <a:cs typeface="Times New Roman" panose="02020603050405020304" pitchFamily="18" charset="0"/>
              </a:rPr>
              <a:t>NIST Digital Forensic </a:t>
            </a:r>
            <a:r>
              <a:rPr lang="en-US" b="1" dirty="0" smtClean="0">
                <a:latin typeface="Times New Roman" panose="02020603050405020304" pitchFamily="18" charset="0"/>
                <a:cs typeface="Times New Roman" panose="02020603050405020304" pitchFamily="18" charset="0"/>
              </a:rPr>
              <a:t>Framework</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562582"/>
            <a:ext cx="10515600" cy="5069712"/>
          </a:xfrm>
        </p:spPr>
        <p:txBody>
          <a:bodyPr>
            <a:normAutofit fontScale="70000" lnSpcReduction="20000"/>
          </a:bodyPr>
          <a:lstStyle/>
          <a:p>
            <a:r>
              <a:rPr lang="en-US" b="1" dirty="0"/>
              <a:t>Search and Seizure in Digital </a:t>
            </a:r>
            <a:r>
              <a:rPr lang="en-US" b="1" dirty="0" smtClean="0"/>
              <a:t>Forensics</a:t>
            </a:r>
          </a:p>
          <a:p>
            <a:r>
              <a:rPr lang="en-US" dirty="0"/>
              <a:t>Search and seizure in digital forensics refers to the lawful process of identifying, collecting, and taking custody of digital devices or data for investigative purposes. </a:t>
            </a:r>
            <a:endParaRPr lang="en-US" dirty="0" smtClean="0"/>
          </a:p>
          <a:p>
            <a:r>
              <a:rPr lang="en-US" dirty="0" smtClean="0"/>
              <a:t>Because </a:t>
            </a:r>
            <a:r>
              <a:rPr lang="en-US" dirty="0"/>
              <a:t>digital devices often contain vast amounts of personal and unrelated information, search and seizure procedures must strictly comply with constitutional protections, statutory laws, and judicial authorization requirements.</a:t>
            </a:r>
          </a:p>
          <a:p>
            <a:r>
              <a:rPr lang="en-US" dirty="0"/>
              <a:t>In criminal investigations, law enforcement officers typically require a valid search warrant issued by a court. </a:t>
            </a:r>
            <a:endParaRPr lang="en-US" dirty="0" smtClean="0"/>
          </a:p>
          <a:p>
            <a:r>
              <a:rPr lang="en-US" dirty="0" smtClean="0"/>
              <a:t>A </a:t>
            </a:r>
            <a:r>
              <a:rPr lang="en-US" dirty="0"/>
              <a:t>warrant must establish probable cause and clearly define the scope of the search, including the specific devices, locations, and types of data authorized for seizure. </a:t>
            </a:r>
            <a:endParaRPr lang="en-US" dirty="0" smtClean="0"/>
          </a:p>
          <a:p>
            <a:r>
              <a:rPr lang="en-US" dirty="0" smtClean="0"/>
              <a:t>Overly </a:t>
            </a:r>
            <a:r>
              <a:rPr lang="en-US" dirty="0"/>
              <a:t>broad or vague warrants may be challenged in court, potentially resulting in suppression of evidence. The warrant should specify whether investigators may search computers, mobile devices, cloud accounts, email records, or network logs.</a:t>
            </a:r>
          </a:p>
          <a:p>
            <a:r>
              <a:rPr lang="en-US" dirty="0"/>
              <a:t>Digital searches differ from traditional physical searches because data may be hidden, encrypted, or stored remotely. As a result, courts often allow investigators to seize entire devices for off-site forensic examination. </a:t>
            </a:r>
            <a:endParaRPr lang="en-US" dirty="0" smtClean="0"/>
          </a:p>
          <a:p>
            <a:r>
              <a:rPr lang="en-US" dirty="0" smtClean="0"/>
              <a:t>However</a:t>
            </a:r>
            <a:r>
              <a:rPr lang="en-US" dirty="0"/>
              <a:t>, examiners must limit their analysis to data relevant to the scope defined in the warrant. Accessing unrelated files beyond authorized scope may violate privacy rights and render evidence inadmissible.</a:t>
            </a:r>
          </a:p>
          <a:p>
            <a:endParaRPr lang="en-US" b="1" dirty="0"/>
          </a:p>
        </p:txBody>
      </p:sp>
    </p:spTree>
    <p:extLst>
      <p:ext uri="{BB962C8B-B14F-4D97-AF65-F5344CB8AC3E}">
        <p14:creationId xmlns:p14="http://schemas.microsoft.com/office/powerpoint/2010/main" val="1795915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lstStyle/>
          <a:p>
            <a:r>
              <a:rPr lang="en-US" b="1" dirty="0">
                <a:latin typeface="Times New Roman" panose="02020603050405020304" pitchFamily="18" charset="0"/>
                <a:cs typeface="Times New Roman" panose="02020603050405020304" pitchFamily="18" charset="0"/>
              </a:rPr>
              <a:t>NIST Digital Forensic </a:t>
            </a:r>
            <a:r>
              <a:rPr lang="en-US" b="1" dirty="0" smtClean="0">
                <a:latin typeface="Times New Roman" panose="02020603050405020304" pitchFamily="18" charset="0"/>
                <a:cs typeface="Times New Roman" panose="02020603050405020304" pitchFamily="18" charset="0"/>
              </a:rPr>
              <a:t>Framework</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562582"/>
            <a:ext cx="10515600" cy="5069712"/>
          </a:xfrm>
        </p:spPr>
        <p:txBody>
          <a:bodyPr>
            <a:normAutofit fontScale="85000" lnSpcReduction="20000"/>
          </a:bodyPr>
          <a:lstStyle/>
          <a:p>
            <a:r>
              <a:rPr lang="en-US" b="1" dirty="0"/>
              <a:t>Admissibility of Digital Evidence</a:t>
            </a:r>
          </a:p>
          <a:p>
            <a:r>
              <a:rPr lang="en-US" dirty="0"/>
              <a:t>Admissibility refers to whether digital evidence is accepted by a court of law for consideration in legal proceedings. For digital evidence to be admissible, it must satisfy legal standards concerning </a:t>
            </a:r>
            <a:r>
              <a:rPr lang="en-US" b="1" dirty="0"/>
              <a:t>relevance, authenticity, reliability, and integrity</a:t>
            </a:r>
            <a:r>
              <a:rPr lang="en-US" dirty="0"/>
              <a:t>.</a:t>
            </a:r>
          </a:p>
          <a:p>
            <a:r>
              <a:rPr lang="en-US" dirty="0"/>
              <a:t>Relevance means that the evidence must directly relate to the facts of the case and assist in proving or disproving a material issue. Courts will exclude evidence that does not meaningfully contribute to resolving the dispute.</a:t>
            </a:r>
          </a:p>
          <a:p>
            <a:r>
              <a:rPr lang="en-US" dirty="0"/>
              <a:t>Authenticity requires proof that the evidence is what the investigator claims it to be. In digital forensics, authenticity is typically established through proper chain of custody documentation and cryptographic hashing. </a:t>
            </a:r>
            <a:endParaRPr lang="en-US" dirty="0" smtClean="0"/>
          </a:p>
          <a:p>
            <a:r>
              <a:rPr lang="en-US" dirty="0" smtClean="0"/>
              <a:t>Reliability </a:t>
            </a:r>
            <a:r>
              <a:rPr lang="en-US" dirty="0"/>
              <a:t>concerns whether the methods and tools used to obtain and analyze the evidence are scientifically valid and widely accepted. </a:t>
            </a:r>
            <a:endParaRPr lang="en-US" dirty="0" smtClean="0"/>
          </a:p>
          <a:p>
            <a:r>
              <a:rPr lang="en-US" dirty="0"/>
              <a:t>A digital forensic expert witness is a qualified professional who presents technical findings and opinions in court. The expert’s role is to assist the judge or jury in understanding complex digital evidence that falls outside ordinary knowledge</a:t>
            </a:r>
            <a:r>
              <a:rPr lang="en-US" dirty="0" smtClean="0"/>
              <a:t>.</a:t>
            </a:r>
            <a:endParaRPr lang="en-US" dirty="0"/>
          </a:p>
        </p:txBody>
      </p:sp>
    </p:spTree>
    <p:extLst>
      <p:ext uri="{BB962C8B-B14F-4D97-AF65-F5344CB8AC3E}">
        <p14:creationId xmlns:p14="http://schemas.microsoft.com/office/powerpoint/2010/main" val="3648203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Real-Life Case: Ross Ulbricht- Silk Road </a:t>
            </a:r>
            <a:r>
              <a:rPr lang="en-US" b="1" dirty="0" err="1" smtClean="0">
                <a:latin typeface="Times New Roman" panose="02020603050405020304" pitchFamily="18" charset="0"/>
                <a:cs typeface="Times New Roman" panose="02020603050405020304" pitchFamily="18" charset="0"/>
              </a:rPr>
              <a:t>Inves</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562582"/>
            <a:ext cx="10515600" cy="5069712"/>
          </a:xfrm>
        </p:spPr>
        <p:txBody>
          <a:bodyPr>
            <a:normAutofit lnSpcReduction="10000"/>
          </a:bodyPr>
          <a:lstStyle/>
          <a:p>
            <a:r>
              <a:rPr lang="en-US" b="1" dirty="0"/>
              <a:t>Case Background</a:t>
            </a:r>
          </a:p>
          <a:p>
            <a:pPr lvl="0"/>
            <a:r>
              <a:rPr lang="en-US" dirty="0"/>
              <a:t>Silk Road was an online black market operating on the Tor network (dark web).</a:t>
            </a:r>
          </a:p>
          <a:p>
            <a:pPr lvl="0"/>
            <a:r>
              <a:rPr lang="en-US" dirty="0"/>
              <a:t>It facilitated the sale of illegal goods, especially narcotics.</a:t>
            </a:r>
          </a:p>
          <a:p>
            <a:pPr lvl="0"/>
            <a:r>
              <a:rPr lang="en-US" dirty="0"/>
              <a:t>Payments were made primarily using Bitcoin to maintain </a:t>
            </a:r>
            <a:r>
              <a:rPr lang="en-US" dirty="0" err="1"/>
              <a:t>pseudonymity</a:t>
            </a:r>
            <a:r>
              <a:rPr lang="en-US" dirty="0"/>
              <a:t>.</a:t>
            </a:r>
          </a:p>
          <a:p>
            <a:pPr lvl="0"/>
            <a:r>
              <a:rPr lang="en-US" dirty="0"/>
              <a:t>The site operated between 2011 and 2013.</a:t>
            </a:r>
          </a:p>
          <a:p>
            <a:pPr lvl="0"/>
            <a:r>
              <a:rPr lang="en-US" dirty="0"/>
              <a:t>Ross Ulbricht allegedly operated the site under the alias “Dread Pirate Roberts.”</a:t>
            </a:r>
          </a:p>
          <a:p>
            <a:r>
              <a:rPr lang="en-US" dirty="0"/>
              <a:t>The investigation was led primarily by the Federal Bureau of Investigation (FBI), alongside other federal agencies.</a:t>
            </a:r>
            <a:endParaRPr lang="en-US" b="1" dirty="0"/>
          </a:p>
        </p:txBody>
      </p:sp>
    </p:spTree>
    <p:extLst>
      <p:ext uri="{BB962C8B-B14F-4D97-AF65-F5344CB8AC3E}">
        <p14:creationId xmlns:p14="http://schemas.microsoft.com/office/powerpoint/2010/main" val="1018649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Real-Life Case: Ross Ulbricht- Silk Road </a:t>
            </a:r>
            <a:r>
              <a:rPr lang="en-US" b="1" dirty="0" err="1" smtClean="0">
                <a:latin typeface="Times New Roman" panose="02020603050405020304" pitchFamily="18" charset="0"/>
                <a:cs typeface="Times New Roman" panose="02020603050405020304" pitchFamily="18" charset="0"/>
              </a:rPr>
              <a:t>Inves</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562582"/>
            <a:ext cx="10515600" cy="5069712"/>
          </a:xfrm>
        </p:spPr>
        <p:txBody>
          <a:bodyPr>
            <a:normAutofit fontScale="92500" lnSpcReduction="10000"/>
          </a:bodyPr>
          <a:lstStyle/>
          <a:p>
            <a:pPr marL="0" indent="0">
              <a:buNone/>
            </a:pPr>
            <a:r>
              <a:rPr lang="en-US" b="1" dirty="0"/>
              <a:t>Investigation Techniques Used</a:t>
            </a:r>
          </a:p>
          <a:p>
            <a:r>
              <a:rPr lang="en-US" b="1" dirty="0" smtClean="0"/>
              <a:t>Open-Source </a:t>
            </a:r>
            <a:r>
              <a:rPr lang="en-US" b="1" dirty="0"/>
              <a:t>Intelligence (OSINT)</a:t>
            </a:r>
          </a:p>
          <a:p>
            <a:pPr lvl="1"/>
            <a:r>
              <a:rPr lang="en-US" dirty="0"/>
              <a:t>Investigators examined early online forum posts promoting Silk Road.</a:t>
            </a:r>
          </a:p>
          <a:p>
            <a:pPr lvl="1"/>
            <a:r>
              <a:rPr lang="en-US" dirty="0"/>
              <a:t>Email addresses linked to early site promotion were traced back to Ulbricht.</a:t>
            </a:r>
          </a:p>
          <a:p>
            <a:pPr lvl="1"/>
            <a:r>
              <a:rPr lang="en-US" dirty="0"/>
              <a:t>Username patterns were correlated across platforms</a:t>
            </a:r>
            <a:r>
              <a:rPr lang="en-US" dirty="0" smtClean="0"/>
              <a:t>.</a:t>
            </a:r>
            <a:r>
              <a:rPr lang="en-US" b="1" dirty="0"/>
              <a:t> </a:t>
            </a:r>
            <a:endParaRPr lang="en-US" b="1" dirty="0" smtClean="0"/>
          </a:p>
          <a:p>
            <a:r>
              <a:rPr lang="en-US" b="1" dirty="0" smtClean="0"/>
              <a:t>Network </a:t>
            </a:r>
            <a:r>
              <a:rPr lang="en-US" b="1" dirty="0"/>
              <a:t>Forensics</a:t>
            </a:r>
          </a:p>
          <a:p>
            <a:pPr lvl="1"/>
            <a:r>
              <a:rPr lang="en-US" dirty="0"/>
              <a:t>Analysis of IP address leaks from Silk Road servers.</a:t>
            </a:r>
          </a:p>
          <a:p>
            <a:pPr lvl="1"/>
            <a:r>
              <a:rPr lang="en-US" dirty="0"/>
              <a:t>Identification of hosting infrastructure located overseas.</a:t>
            </a:r>
          </a:p>
          <a:p>
            <a:pPr lvl="1"/>
            <a:r>
              <a:rPr lang="en-US" dirty="0"/>
              <a:t>Monitoring of traffic entering and exiting the Tor network.</a:t>
            </a:r>
          </a:p>
          <a:p>
            <a:pPr lvl="1"/>
            <a:r>
              <a:rPr lang="en-US" dirty="0"/>
              <a:t>Correlation of server misconfigurations with real-world hosting providers.</a:t>
            </a:r>
          </a:p>
          <a:p>
            <a:r>
              <a:rPr lang="en-US" b="1" dirty="0" smtClean="0"/>
              <a:t>Undercover </a:t>
            </a:r>
            <a:r>
              <a:rPr lang="en-US" b="1" dirty="0"/>
              <a:t>Operations</a:t>
            </a:r>
          </a:p>
          <a:p>
            <a:pPr lvl="1"/>
            <a:r>
              <a:rPr lang="en-US" dirty="0"/>
              <a:t>Federal agents conducted undercover drug purchases on Silk Road.</a:t>
            </a:r>
          </a:p>
          <a:p>
            <a:pPr lvl="1"/>
            <a:r>
              <a:rPr lang="en-US" dirty="0"/>
              <a:t>Transactions were traced through </a:t>
            </a:r>
            <a:r>
              <a:rPr lang="en-US" dirty="0" err="1"/>
              <a:t>blockchain</a:t>
            </a:r>
            <a:r>
              <a:rPr lang="en-US" dirty="0"/>
              <a:t> analysis.</a:t>
            </a:r>
          </a:p>
          <a:p>
            <a:pPr lvl="1"/>
            <a:r>
              <a:rPr lang="en-US" dirty="0"/>
              <a:t>Internal Silk Road communications were gathered after server seizure.</a:t>
            </a:r>
          </a:p>
          <a:p>
            <a:pPr lvl="0"/>
            <a:endParaRPr lang="en-US" dirty="0"/>
          </a:p>
        </p:txBody>
      </p:sp>
    </p:spTree>
    <p:extLst>
      <p:ext uri="{BB962C8B-B14F-4D97-AF65-F5344CB8AC3E}">
        <p14:creationId xmlns:p14="http://schemas.microsoft.com/office/powerpoint/2010/main" val="467669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Real-Life Case: Ross Ulbricht- Silk Road </a:t>
            </a:r>
            <a:r>
              <a:rPr lang="en-US" b="1" dirty="0" err="1" smtClean="0">
                <a:latin typeface="Times New Roman" panose="02020603050405020304" pitchFamily="18" charset="0"/>
                <a:cs typeface="Times New Roman" panose="02020603050405020304" pitchFamily="18" charset="0"/>
              </a:rPr>
              <a:t>Inves</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838200" y="1562582"/>
            <a:ext cx="10515600" cy="5069712"/>
          </a:xfrm>
        </p:spPr>
        <p:txBody>
          <a:bodyPr>
            <a:normAutofit fontScale="92500" lnSpcReduction="10000"/>
          </a:bodyPr>
          <a:lstStyle/>
          <a:p>
            <a:pPr marL="0" indent="0">
              <a:buNone/>
            </a:pPr>
            <a:r>
              <a:rPr lang="en-US" b="1" dirty="0"/>
              <a:t>Investigation Techniques Used</a:t>
            </a:r>
          </a:p>
          <a:p>
            <a:r>
              <a:rPr lang="en-US" b="1" dirty="0" smtClean="0"/>
              <a:t>Open-Source </a:t>
            </a:r>
            <a:r>
              <a:rPr lang="en-US" b="1" dirty="0"/>
              <a:t>Intelligence (OSINT)</a:t>
            </a:r>
          </a:p>
          <a:p>
            <a:pPr lvl="1"/>
            <a:r>
              <a:rPr lang="en-US" dirty="0"/>
              <a:t>Investigators examined early online forum posts promoting Silk Road.</a:t>
            </a:r>
          </a:p>
          <a:p>
            <a:pPr lvl="1"/>
            <a:r>
              <a:rPr lang="en-US" dirty="0"/>
              <a:t>Email addresses linked to early site promotion were traced back to Ulbricht.</a:t>
            </a:r>
          </a:p>
          <a:p>
            <a:pPr lvl="1"/>
            <a:r>
              <a:rPr lang="en-US" dirty="0"/>
              <a:t>Username patterns were correlated across platforms</a:t>
            </a:r>
            <a:r>
              <a:rPr lang="en-US" dirty="0" smtClean="0"/>
              <a:t>.</a:t>
            </a:r>
            <a:r>
              <a:rPr lang="en-US" b="1" dirty="0"/>
              <a:t> </a:t>
            </a:r>
            <a:endParaRPr lang="en-US" b="1" dirty="0" smtClean="0"/>
          </a:p>
          <a:p>
            <a:r>
              <a:rPr lang="en-US" b="1" dirty="0" smtClean="0"/>
              <a:t>Network </a:t>
            </a:r>
            <a:r>
              <a:rPr lang="en-US" b="1" dirty="0"/>
              <a:t>Forensics</a:t>
            </a:r>
          </a:p>
          <a:p>
            <a:pPr lvl="1"/>
            <a:r>
              <a:rPr lang="en-US" dirty="0"/>
              <a:t>Analysis of IP address leaks from Silk Road servers.</a:t>
            </a:r>
          </a:p>
          <a:p>
            <a:pPr lvl="1"/>
            <a:r>
              <a:rPr lang="en-US" dirty="0"/>
              <a:t>Identification of hosting infrastructure located overseas.</a:t>
            </a:r>
          </a:p>
          <a:p>
            <a:pPr lvl="1"/>
            <a:r>
              <a:rPr lang="en-US" dirty="0"/>
              <a:t>Monitoring of traffic entering and exiting the Tor network.</a:t>
            </a:r>
          </a:p>
          <a:p>
            <a:pPr lvl="1"/>
            <a:r>
              <a:rPr lang="en-US" dirty="0"/>
              <a:t>Correlation of server misconfigurations with real-world hosting providers.</a:t>
            </a:r>
          </a:p>
          <a:p>
            <a:r>
              <a:rPr lang="en-US" b="1" dirty="0" smtClean="0"/>
              <a:t>Undercover </a:t>
            </a:r>
            <a:r>
              <a:rPr lang="en-US" b="1" dirty="0"/>
              <a:t>Operations</a:t>
            </a:r>
          </a:p>
          <a:p>
            <a:pPr lvl="1"/>
            <a:r>
              <a:rPr lang="en-US" dirty="0"/>
              <a:t>Federal agents conducted undercover drug purchases on Silk Road.</a:t>
            </a:r>
          </a:p>
          <a:p>
            <a:pPr lvl="1"/>
            <a:r>
              <a:rPr lang="en-US" dirty="0"/>
              <a:t>Transactions were traced through </a:t>
            </a:r>
            <a:r>
              <a:rPr lang="en-US" dirty="0" err="1"/>
              <a:t>blockchain</a:t>
            </a:r>
            <a:r>
              <a:rPr lang="en-US" dirty="0"/>
              <a:t> analysis.</a:t>
            </a:r>
          </a:p>
          <a:p>
            <a:pPr lvl="1"/>
            <a:r>
              <a:rPr lang="en-US" dirty="0"/>
              <a:t>Internal Silk Road communications were gathered after server seizure.</a:t>
            </a:r>
          </a:p>
          <a:p>
            <a:pPr lvl="0"/>
            <a:endParaRPr lang="en-US" dirty="0"/>
          </a:p>
        </p:txBody>
      </p:sp>
    </p:spTree>
    <p:extLst>
      <p:ext uri="{BB962C8B-B14F-4D97-AF65-F5344CB8AC3E}">
        <p14:creationId xmlns:p14="http://schemas.microsoft.com/office/powerpoint/2010/main" val="3751376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Real-Life Case: Ross Ulbricht- Silk Road Case.</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1139142" y="1331089"/>
            <a:ext cx="10515600" cy="5526911"/>
          </a:xfrm>
        </p:spPr>
        <p:txBody>
          <a:bodyPr>
            <a:normAutofit fontScale="85000" lnSpcReduction="20000"/>
          </a:bodyPr>
          <a:lstStyle/>
          <a:p>
            <a:r>
              <a:rPr lang="en-US" b="1" dirty="0"/>
              <a:t>Server Seizure and Digital Evidence</a:t>
            </a:r>
          </a:p>
          <a:p>
            <a:pPr lvl="0"/>
            <a:r>
              <a:rPr lang="en-US" dirty="0"/>
              <a:t>Authorities located and seized Silk Road servers hosted abroad.</a:t>
            </a:r>
          </a:p>
          <a:p>
            <a:pPr lvl="0"/>
            <a:r>
              <a:rPr lang="en-US" dirty="0"/>
              <a:t>Forensic imaging (bit-by-bit copies) was performed on seized servers.</a:t>
            </a:r>
          </a:p>
          <a:p>
            <a:pPr lvl="0"/>
            <a:r>
              <a:rPr lang="en-US" dirty="0"/>
              <a:t>Extracted data included:</a:t>
            </a:r>
          </a:p>
          <a:p>
            <a:pPr lvl="1"/>
            <a:r>
              <a:rPr lang="en-US" dirty="0"/>
              <a:t>User account </a:t>
            </a:r>
            <a:r>
              <a:rPr lang="en-US" dirty="0" smtClean="0"/>
              <a:t>records, Vendor </a:t>
            </a:r>
            <a:r>
              <a:rPr lang="en-US" dirty="0"/>
              <a:t>information</a:t>
            </a:r>
          </a:p>
          <a:p>
            <a:pPr lvl="1"/>
            <a:r>
              <a:rPr lang="en-US" dirty="0"/>
              <a:t>Private </a:t>
            </a:r>
            <a:r>
              <a:rPr lang="en-US" dirty="0" smtClean="0"/>
              <a:t>messages, Bitcoin </a:t>
            </a:r>
            <a:r>
              <a:rPr lang="en-US" dirty="0"/>
              <a:t>wallet data</a:t>
            </a:r>
          </a:p>
          <a:p>
            <a:pPr lvl="1"/>
            <a:r>
              <a:rPr lang="en-US" dirty="0"/>
              <a:t>Administrative logs</a:t>
            </a:r>
          </a:p>
          <a:p>
            <a:pPr lvl="0"/>
            <a:r>
              <a:rPr lang="en-US" dirty="0"/>
              <a:t>Hash values were calculated to verify integrity of forensic images</a:t>
            </a:r>
            <a:r>
              <a:rPr lang="en-US" dirty="0" smtClean="0"/>
              <a:t>.</a:t>
            </a:r>
          </a:p>
          <a:p>
            <a:r>
              <a:rPr lang="en-US" b="1" dirty="0"/>
              <a:t>The Arrest (Live Digital Evidence Capture)</a:t>
            </a:r>
          </a:p>
          <a:p>
            <a:pPr lvl="0"/>
            <a:r>
              <a:rPr lang="en-US" dirty="0"/>
              <a:t>Ulbricht was arrested in October 2013 </a:t>
            </a:r>
            <a:r>
              <a:rPr lang="en-US" dirty="0" smtClean="0"/>
              <a:t>during a </a:t>
            </a:r>
            <a:r>
              <a:rPr lang="en-US" dirty="0"/>
              <a:t>staged a distraction to prevent him from closing or encrypting his laptop.</a:t>
            </a:r>
          </a:p>
          <a:p>
            <a:pPr lvl="0"/>
            <a:r>
              <a:rPr lang="en-US" dirty="0"/>
              <a:t>The laptop was seized while unlocked and logged in as site administrator.</a:t>
            </a:r>
          </a:p>
          <a:p>
            <a:pPr lvl="0"/>
            <a:r>
              <a:rPr lang="en-US" dirty="0"/>
              <a:t>This enabled live acquisition of:</a:t>
            </a:r>
          </a:p>
          <a:p>
            <a:pPr lvl="1"/>
            <a:r>
              <a:rPr lang="en-US" dirty="0"/>
              <a:t>Active Silk Road admin </a:t>
            </a:r>
            <a:r>
              <a:rPr lang="en-US" dirty="0" smtClean="0"/>
              <a:t>panel, Private </a:t>
            </a:r>
            <a:r>
              <a:rPr lang="en-US" dirty="0"/>
              <a:t>chats</a:t>
            </a:r>
          </a:p>
          <a:p>
            <a:pPr lvl="1"/>
            <a:r>
              <a:rPr lang="en-US" dirty="0"/>
              <a:t>Server control </a:t>
            </a:r>
            <a:r>
              <a:rPr lang="en-US" dirty="0" smtClean="0"/>
              <a:t>interfaces, Financial </a:t>
            </a:r>
            <a:r>
              <a:rPr lang="en-US" dirty="0"/>
              <a:t>records</a:t>
            </a:r>
          </a:p>
          <a:p>
            <a:pPr lvl="0"/>
            <a:r>
              <a:rPr lang="en-US" dirty="0"/>
              <a:t>This was a critical example of live digital evidence preservation</a:t>
            </a:r>
            <a:r>
              <a:rPr lang="en-US" dirty="0" smtClean="0"/>
              <a:t>.</a:t>
            </a:r>
            <a:endParaRPr lang="en-US" dirty="0"/>
          </a:p>
        </p:txBody>
      </p:sp>
    </p:spTree>
    <p:extLst>
      <p:ext uri="{BB962C8B-B14F-4D97-AF65-F5344CB8AC3E}">
        <p14:creationId xmlns:p14="http://schemas.microsoft.com/office/powerpoint/2010/main" val="36682279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Real-Life Case: Ross Ulbricht- Silk Road Case.</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1139142" y="1331089"/>
            <a:ext cx="10515600" cy="5526911"/>
          </a:xfrm>
        </p:spPr>
        <p:txBody>
          <a:bodyPr>
            <a:normAutofit/>
          </a:bodyPr>
          <a:lstStyle/>
          <a:p>
            <a:r>
              <a:rPr lang="en-US" b="1" dirty="0"/>
              <a:t>Chain of Custody</a:t>
            </a:r>
          </a:p>
          <a:p>
            <a:pPr lvl="0"/>
            <a:r>
              <a:rPr lang="en-US" dirty="0"/>
              <a:t>The laptop and digital storage devices were immediately documented.</a:t>
            </a:r>
          </a:p>
          <a:p>
            <a:pPr lvl="0"/>
            <a:r>
              <a:rPr lang="en-US" dirty="0"/>
              <a:t>Investigators recorded:</a:t>
            </a:r>
          </a:p>
          <a:p>
            <a:pPr lvl="1"/>
            <a:r>
              <a:rPr lang="en-US" dirty="0"/>
              <a:t>Date and time of seizure</a:t>
            </a:r>
          </a:p>
          <a:p>
            <a:pPr lvl="1"/>
            <a:r>
              <a:rPr lang="en-US" dirty="0"/>
              <a:t>Location of arrest</a:t>
            </a:r>
          </a:p>
          <a:p>
            <a:pPr lvl="1"/>
            <a:r>
              <a:rPr lang="en-US" dirty="0"/>
              <a:t>Identity of collecting agents</a:t>
            </a:r>
          </a:p>
          <a:p>
            <a:pPr lvl="1"/>
            <a:r>
              <a:rPr lang="en-US" dirty="0"/>
              <a:t>Transfer to forensic labs</a:t>
            </a:r>
          </a:p>
          <a:p>
            <a:pPr lvl="0"/>
            <a:r>
              <a:rPr lang="en-US" dirty="0"/>
              <a:t>Forensic imaging was documented step-by-step.</a:t>
            </a:r>
          </a:p>
          <a:p>
            <a:pPr lvl="0"/>
            <a:r>
              <a:rPr lang="en-US" dirty="0"/>
              <a:t>Evidence was stored securely with restricted access.</a:t>
            </a:r>
          </a:p>
          <a:p>
            <a:r>
              <a:rPr lang="en-US" dirty="0"/>
              <a:t>Proper documentation prevented admissibility challenges in court.</a:t>
            </a:r>
          </a:p>
        </p:txBody>
      </p:sp>
    </p:spTree>
    <p:extLst>
      <p:ext uri="{BB962C8B-B14F-4D97-AF65-F5344CB8AC3E}">
        <p14:creationId xmlns:p14="http://schemas.microsoft.com/office/powerpoint/2010/main" val="1906231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Real-Life Case: Ross Ulbricht- Silk Road Case.</a:t>
            </a:r>
            <a:endParaRPr lang="en-US" b="1"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1139142" y="1331089"/>
            <a:ext cx="10515600" cy="5526911"/>
          </a:xfrm>
        </p:spPr>
        <p:txBody>
          <a:bodyPr>
            <a:normAutofit fontScale="92500" lnSpcReduction="10000"/>
          </a:bodyPr>
          <a:lstStyle/>
          <a:p>
            <a:r>
              <a:rPr lang="en-US" b="1" dirty="0"/>
              <a:t>Evidence Integrity and Hashing</a:t>
            </a:r>
          </a:p>
          <a:p>
            <a:pPr lvl="1"/>
            <a:r>
              <a:rPr lang="en-US" dirty="0"/>
              <a:t>Bit-by-bit forensic images were created from the laptop and servers.</a:t>
            </a:r>
          </a:p>
          <a:p>
            <a:pPr lvl="1"/>
            <a:r>
              <a:rPr lang="en-US" dirty="0"/>
              <a:t>Cryptographic hashes (e.g., SHA family) were calculated before and after imaging.</a:t>
            </a:r>
          </a:p>
          <a:p>
            <a:pPr lvl="1"/>
            <a:r>
              <a:rPr lang="en-US" dirty="0"/>
              <a:t>Matching hashes confirmed no alteration of evidence.</a:t>
            </a:r>
          </a:p>
          <a:p>
            <a:pPr lvl="1"/>
            <a:r>
              <a:rPr lang="en-US" dirty="0"/>
              <a:t>Integrity verification was critical due to defense challenges</a:t>
            </a:r>
            <a:r>
              <a:rPr lang="en-US" dirty="0" smtClean="0"/>
              <a:t>.</a:t>
            </a:r>
          </a:p>
          <a:p>
            <a:r>
              <a:rPr lang="en-US" b="1" dirty="0"/>
              <a:t>Cryptocurrency Forensics</a:t>
            </a:r>
          </a:p>
          <a:p>
            <a:pPr lvl="1"/>
            <a:r>
              <a:rPr lang="en-US" dirty="0"/>
              <a:t>Bitcoin transactions were traced using </a:t>
            </a:r>
            <a:r>
              <a:rPr lang="en-US" dirty="0" err="1"/>
              <a:t>blockchain</a:t>
            </a:r>
            <a:r>
              <a:rPr lang="en-US" dirty="0"/>
              <a:t> analysis.</a:t>
            </a:r>
          </a:p>
          <a:p>
            <a:pPr lvl="1"/>
            <a:r>
              <a:rPr lang="en-US" dirty="0"/>
              <a:t>Wallet addresses linked to Silk Road operations were identified.</a:t>
            </a:r>
          </a:p>
          <a:p>
            <a:pPr lvl="1"/>
            <a:r>
              <a:rPr lang="en-US" dirty="0"/>
              <a:t>Financial trails connected Ulbricht to marketplace profits.</a:t>
            </a:r>
          </a:p>
          <a:p>
            <a:pPr lvl="1"/>
            <a:r>
              <a:rPr lang="en-US" dirty="0"/>
              <a:t>Demonstrated that cryptocurrency transactions, while pseudonymous, are traceable</a:t>
            </a:r>
            <a:r>
              <a:rPr lang="en-US" dirty="0" smtClean="0"/>
              <a:t>.</a:t>
            </a:r>
          </a:p>
          <a:p>
            <a:pPr lvl="0"/>
            <a:r>
              <a:rPr lang="en-US" dirty="0"/>
              <a:t>Ulbricht was convicted in 2015 on charges including:</a:t>
            </a:r>
          </a:p>
          <a:p>
            <a:pPr lvl="1"/>
            <a:r>
              <a:rPr lang="en-US" dirty="0"/>
              <a:t>Narcotics trafficking conspiracy</a:t>
            </a:r>
          </a:p>
          <a:p>
            <a:pPr lvl="1"/>
            <a:r>
              <a:rPr lang="en-US" dirty="0"/>
              <a:t>Money laundering conspiracy</a:t>
            </a:r>
          </a:p>
          <a:p>
            <a:pPr lvl="1"/>
            <a:r>
              <a:rPr lang="en-US" dirty="0"/>
              <a:t>Computer hacking conspiracy</a:t>
            </a:r>
          </a:p>
          <a:p>
            <a:r>
              <a:rPr lang="en-US" dirty="0" smtClean="0"/>
              <a:t>The </a:t>
            </a:r>
            <a:r>
              <a:rPr lang="en-US" dirty="0"/>
              <a:t>case became a landmark prosecution in cybercrime law enforcement</a:t>
            </a:r>
          </a:p>
          <a:p>
            <a:pPr marL="457200" lvl="1" indent="0">
              <a:buNone/>
            </a:pPr>
            <a:endParaRPr lang="en-US" dirty="0" smtClean="0"/>
          </a:p>
        </p:txBody>
      </p:sp>
    </p:spTree>
    <p:extLst>
      <p:ext uri="{BB962C8B-B14F-4D97-AF65-F5344CB8AC3E}">
        <p14:creationId xmlns:p14="http://schemas.microsoft.com/office/powerpoint/2010/main" val="1500199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normAutofit/>
          </a:bodyPr>
          <a:lstStyle/>
          <a:p>
            <a:r>
              <a:rPr lang="en-US" b="1" dirty="0" smtClean="0">
                <a:latin typeface="Times New Roman" panose="02020603050405020304" pitchFamily="18" charset="0"/>
                <a:cs typeface="Times New Roman" panose="02020603050405020304" pitchFamily="18" charset="0"/>
              </a:rPr>
              <a:t>Documentation Standards And Reporting</a:t>
            </a:r>
          </a:p>
        </p:txBody>
      </p:sp>
      <p:sp>
        <p:nvSpPr>
          <p:cNvPr id="3" name="Espace réservé du contenu 2"/>
          <p:cNvSpPr>
            <a:spLocks noGrp="1"/>
          </p:cNvSpPr>
          <p:nvPr>
            <p:ph idx="1"/>
          </p:nvPr>
        </p:nvSpPr>
        <p:spPr>
          <a:xfrm>
            <a:off x="1139142" y="1331089"/>
            <a:ext cx="10515600" cy="5526911"/>
          </a:xfrm>
        </p:spPr>
        <p:txBody>
          <a:bodyPr>
            <a:normAutofit fontScale="92500" lnSpcReduction="10000"/>
          </a:bodyPr>
          <a:lstStyle/>
          <a:p>
            <a:r>
              <a:rPr lang="en-US" b="1" dirty="0"/>
              <a:t>Documentation Standards in Digital Forensics</a:t>
            </a:r>
          </a:p>
          <a:p>
            <a:r>
              <a:rPr lang="en-US" dirty="0"/>
              <a:t>Documentation in digital forensics refers to the systematic recording of every action taken during an investigation to ensure transparency, repeatability, and legal admissibility. </a:t>
            </a:r>
            <a:endParaRPr lang="en-US" dirty="0" smtClean="0"/>
          </a:p>
          <a:p>
            <a:r>
              <a:rPr lang="en-US" dirty="0" smtClean="0"/>
              <a:t>Proper </a:t>
            </a:r>
            <a:r>
              <a:rPr lang="en-US" dirty="0"/>
              <a:t>documentation allows another qualified examiner to reproduce the investigation and arrive at the same findings using the recorded procedures. It forms the backbone of credibility in both corporate and criminal investigations</a:t>
            </a:r>
            <a:r>
              <a:rPr lang="en-US" dirty="0" smtClean="0"/>
              <a:t>.</a:t>
            </a:r>
            <a:endParaRPr lang="en-US" dirty="0"/>
          </a:p>
          <a:p>
            <a:r>
              <a:rPr lang="en-US" b="1" dirty="0"/>
              <a:t>Forensic Reporting Structure</a:t>
            </a:r>
          </a:p>
          <a:p>
            <a:r>
              <a:rPr lang="en-US" dirty="0"/>
              <a:t>A forensic report is the formal written presentation of an investigator’s findings. It translates complex technical processes into clear, structured, and legally defensible conclusions. </a:t>
            </a:r>
            <a:endParaRPr lang="en-US" dirty="0" smtClean="0"/>
          </a:p>
          <a:p>
            <a:r>
              <a:rPr lang="en-US" dirty="0" smtClean="0"/>
              <a:t>A </a:t>
            </a:r>
            <a:r>
              <a:rPr lang="en-US" dirty="0"/>
              <a:t>well-prepared forensic report must be objective, fact-based, and understandable to non-technical stakeholders such as judges, attorneys, corporate executives, or juries.</a:t>
            </a:r>
          </a:p>
          <a:p>
            <a:endParaRPr lang="en-US" dirty="0" smtClean="0"/>
          </a:p>
        </p:txBody>
      </p:sp>
    </p:spTree>
    <p:extLst>
      <p:ext uri="{BB962C8B-B14F-4D97-AF65-F5344CB8AC3E}">
        <p14:creationId xmlns:p14="http://schemas.microsoft.com/office/powerpoint/2010/main" val="32527321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1035412"/>
          </a:xfrm>
        </p:spPr>
        <p:txBody>
          <a:bodyPr>
            <a:normAutofit/>
          </a:bodyPr>
          <a:lstStyle/>
          <a:p>
            <a:r>
              <a:rPr lang="en-US" b="1" dirty="0" smtClean="0">
                <a:latin typeface="Times New Roman" panose="02020603050405020304" pitchFamily="18" charset="0"/>
                <a:cs typeface="Times New Roman" panose="02020603050405020304" pitchFamily="18" charset="0"/>
              </a:rPr>
              <a:t>Documentation Standards And Reporting</a:t>
            </a:r>
          </a:p>
        </p:txBody>
      </p:sp>
      <p:sp>
        <p:nvSpPr>
          <p:cNvPr id="3" name="Espace réservé du contenu 2"/>
          <p:cNvSpPr>
            <a:spLocks noGrp="1"/>
          </p:cNvSpPr>
          <p:nvPr>
            <p:ph idx="1"/>
          </p:nvPr>
        </p:nvSpPr>
        <p:spPr>
          <a:xfrm>
            <a:off x="1139142" y="1331089"/>
            <a:ext cx="10515600" cy="5526911"/>
          </a:xfrm>
        </p:spPr>
        <p:txBody>
          <a:bodyPr>
            <a:normAutofit fontScale="92500" lnSpcReduction="20000"/>
          </a:bodyPr>
          <a:lstStyle/>
          <a:p>
            <a:r>
              <a:rPr lang="en-US" dirty="0"/>
              <a:t>The report typically begins with an </a:t>
            </a:r>
            <a:r>
              <a:rPr lang="en-US" b="1" dirty="0"/>
              <a:t>executive summary</a:t>
            </a:r>
            <a:r>
              <a:rPr lang="en-US" dirty="0"/>
              <a:t>, which provides a concise overview of the case, objectives, and key findings. </a:t>
            </a:r>
            <a:r>
              <a:rPr lang="en-US" dirty="0" smtClean="0"/>
              <a:t>This </a:t>
            </a:r>
            <a:r>
              <a:rPr lang="en-US" dirty="0"/>
              <a:t>section is written in plain language and highlights conclusions without overwhelming the reader with technical detail.</a:t>
            </a:r>
          </a:p>
          <a:p>
            <a:r>
              <a:rPr lang="en-US" dirty="0"/>
              <a:t>The </a:t>
            </a:r>
            <a:r>
              <a:rPr lang="en-US" b="1" dirty="0"/>
              <a:t>methodology</a:t>
            </a:r>
            <a:r>
              <a:rPr lang="en-US" dirty="0"/>
              <a:t> section explains how the investigation was conducted. It includes the tools used, their versions, imaging procedures, hashing algorithms applied, and analytical techniques performed. This section ensures repeatability and demonstrates adherence to accepted forensic standards.</a:t>
            </a:r>
          </a:p>
          <a:p>
            <a:r>
              <a:rPr lang="en-US" dirty="0"/>
              <a:t>The </a:t>
            </a:r>
            <a:r>
              <a:rPr lang="en-US" b="1" dirty="0"/>
              <a:t>findings</a:t>
            </a:r>
            <a:r>
              <a:rPr lang="en-US" dirty="0"/>
              <a:t> section presents factual results discovered during examination and analysis. It includes recovered files, log entries, timestamps, communication records, and relevant artifacts. Findings must be presented without speculation and supported by screenshots, hash values, or references to extracted data</a:t>
            </a:r>
            <a:r>
              <a:rPr lang="en-US" dirty="0" smtClean="0"/>
              <a:t>.</a:t>
            </a:r>
          </a:p>
          <a:p>
            <a:r>
              <a:rPr lang="en-US" dirty="0"/>
              <a:t>The </a:t>
            </a:r>
            <a:r>
              <a:rPr lang="en-US" b="1" dirty="0"/>
              <a:t>analysis</a:t>
            </a:r>
            <a:r>
              <a:rPr lang="en-US" dirty="0"/>
              <a:t> section interprets the findings and reconstructs events based on evidence. Here, the investigator explains how data points correlate and what conclusions logically follow. Care must be taken to distinguish clearly between factual findings and professional opinions.</a:t>
            </a:r>
          </a:p>
          <a:p>
            <a:endParaRPr lang="en-US" dirty="0"/>
          </a:p>
          <a:p>
            <a:endParaRPr lang="en-US" dirty="0" smtClean="0"/>
          </a:p>
        </p:txBody>
      </p:sp>
    </p:spTree>
    <p:extLst>
      <p:ext uri="{BB962C8B-B14F-4D97-AF65-F5344CB8AC3E}">
        <p14:creationId xmlns:p14="http://schemas.microsoft.com/office/powerpoint/2010/main" val="3931834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827066"/>
          </a:xfrm>
        </p:spPr>
        <p:txBody>
          <a:bodyPr>
            <a:normAutofit/>
          </a:bodyPr>
          <a:lstStyle/>
          <a:p>
            <a:r>
              <a:rPr lang="en-US" b="1" dirty="0" smtClean="0">
                <a:latin typeface="Times New Roman" panose="02020603050405020304" pitchFamily="18" charset="0"/>
                <a:cs typeface="Times New Roman" panose="02020603050405020304" pitchFamily="18" charset="0"/>
              </a:rPr>
              <a:t>Ethics in Digital Forensic Investigations</a:t>
            </a:r>
          </a:p>
        </p:txBody>
      </p:sp>
      <p:sp>
        <p:nvSpPr>
          <p:cNvPr id="3" name="Espace réservé du contenu 2"/>
          <p:cNvSpPr>
            <a:spLocks noGrp="1"/>
          </p:cNvSpPr>
          <p:nvPr>
            <p:ph idx="1"/>
          </p:nvPr>
        </p:nvSpPr>
        <p:spPr>
          <a:xfrm>
            <a:off x="1046544" y="1331089"/>
            <a:ext cx="10515600" cy="5335929"/>
          </a:xfrm>
        </p:spPr>
        <p:txBody>
          <a:bodyPr>
            <a:normAutofit fontScale="85000" lnSpcReduction="20000"/>
          </a:bodyPr>
          <a:lstStyle/>
          <a:p>
            <a:r>
              <a:rPr lang="en-US" dirty="0"/>
              <a:t>Ethics in digital forensic investigations refer to the professional principles and moral standards that guide investigators in conducting fair, impartial, and lawful examinations. </a:t>
            </a:r>
            <a:endParaRPr lang="en-US" dirty="0" smtClean="0"/>
          </a:p>
          <a:p>
            <a:r>
              <a:rPr lang="en-US" dirty="0"/>
              <a:t>One core ethical principle is </a:t>
            </a:r>
            <a:r>
              <a:rPr lang="en-US" b="1" dirty="0"/>
              <a:t>objectivity.</a:t>
            </a:r>
            <a:r>
              <a:rPr lang="en-US" dirty="0"/>
              <a:t> Investigators must remain neutral and avoid confirmation bias. Their role is not to prove guilt or innocence but to uncover and present facts based on evidence</a:t>
            </a:r>
            <a:r>
              <a:rPr lang="en-US" dirty="0" smtClean="0"/>
              <a:t>.</a:t>
            </a:r>
          </a:p>
          <a:p>
            <a:r>
              <a:rPr lang="en-US" b="1" dirty="0"/>
              <a:t>Confidentiality</a:t>
            </a:r>
            <a:r>
              <a:rPr lang="en-US" dirty="0"/>
              <a:t> is another critical ethical obligation. Investigators frequently encounter private communications, financial data, medical information, and trade </a:t>
            </a:r>
            <a:r>
              <a:rPr lang="en-US" dirty="0" smtClean="0"/>
              <a:t>secrets.</a:t>
            </a:r>
          </a:p>
          <a:p>
            <a:r>
              <a:rPr lang="en-US" b="1" dirty="0"/>
              <a:t>Integrity</a:t>
            </a:r>
            <a:r>
              <a:rPr lang="en-US" dirty="0"/>
              <a:t> and honesty are foundational ethical requirements. Investigators must never alter, fabricate, omit, or misrepresent evidence. </a:t>
            </a:r>
            <a:endParaRPr lang="en-US" dirty="0" smtClean="0"/>
          </a:p>
          <a:p>
            <a:r>
              <a:rPr lang="en-US" b="1" dirty="0"/>
              <a:t>Competence</a:t>
            </a:r>
            <a:r>
              <a:rPr lang="en-US" dirty="0"/>
              <a:t> is also an ethical requirement. Digital forensic professionals must maintain up-to-date knowledge of tools, technologies, and methodologies. </a:t>
            </a:r>
            <a:endParaRPr lang="en-US" dirty="0" smtClean="0"/>
          </a:p>
          <a:p>
            <a:r>
              <a:rPr lang="en-US" dirty="0"/>
              <a:t>Legal compliance is another ethical dimension. Investigators must respect search and seizure laws, privacy regulations, and organizational policies. </a:t>
            </a:r>
            <a:endParaRPr lang="en-US" dirty="0" smtClean="0"/>
          </a:p>
          <a:p>
            <a:r>
              <a:rPr lang="en-US" dirty="0"/>
              <a:t>Finally, professional accountability ensures that forensic practitioners are prepared to defend their methods and conclusions under cross-examination. </a:t>
            </a:r>
          </a:p>
          <a:p>
            <a:endParaRPr lang="en-US" dirty="0" smtClean="0"/>
          </a:p>
        </p:txBody>
      </p:sp>
    </p:spTree>
    <p:extLst>
      <p:ext uri="{BB962C8B-B14F-4D97-AF65-F5344CB8AC3E}">
        <p14:creationId xmlns:p14="http://schemas.microsoft.com/office/powerpoint/2010/main" val="19653338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39142" y="411425"/>
            <a:ext cx="10515600" cy="827066"/>
          </a:xfrm>
        </p:spPr>
        <p:txBody>
          <a:bodyPr>
            <a:normAutofit/>
          </a:bodyPr>
          <a:lstStyle/>
          <a:p>
            <a:r>
              <a:rPr lang="en-US" b="1" dirty="0" smtClean="0">
                <a:latin typeface="Times New Roman" panose="02020603050405020304" pitchFamily="18" charset="0"/>
                <a:cs typeface="Times New Roman" panose="02020603050405020304" pitchFamily="18" charset="0"/>
              </a:rPr>
              <a:t>NIST Framework for Digital Forensics</a:t>
            </a:r>
          </a:p>
        </p:txBody>
      </p:sp>
      <p:sp>
        <p:nvSpPr>
          <p:cNvPr id="3" name="Espace réservé du contenu 2"/>
          <p:cNvSpPr>
            <a:spLocks noGrp="1"/>
          </p:cNvSpPr>
          <p:nvPr>
            <p:ph idx="1"/>
          </p:nvPr>
        </p:nvSpPr>
        <p:spPr>
          <a:xfrm>
            <a:off x="1046544" y="1331089"/>
            <a:ext cx="10515600" cy="5335929"/>
          </a:xfrm>
        </p:spPr>
        <p:txBody>
          <a:bodyPr>
            <a:normAutofit/>
          </a:bodyPr>
          <a:lstStyle/>
          <a:p>
            <a:r>
              <a:rPr lang="en-US" dirty="0" smtClean="0"/>
              <a:t>What is a framework? Why NIST?</a:t>
            </a:r>
          </a:p>
          <a:p>
            <a:r>
              <a:rPr lang="en-US" dirty="0" smtClean="0"/>
              <a:t>What do you understand by a chain of custody broken?</a:t>
            </a:r>
          </a:p>
          <a:p>
            <a:r>
              <a:rPr lang="en-US" dirty="0" smtClean="0"/>
              <a:t>What are the legal parameters to be respected during a search and seizure of digital evidence?</a:t>
            </a:r>
          </a:p>
          <a:p>
            <a:r>
              <a:rPr lang="en-US" dirty="0" smtClean="0"/>
              <a:t>What is the role of an expert witness in a criminal / fraud case?</a:t>
            </a:r>
          </a:p>
          <a:p>
            <a:r>
              <a:rPr lang="en-US" dirty="0" smtClean="0"/>
              <a:t>Tor is secure and “impenetrable”… how in your opinion, did the FBI succeed to “penetrate” and analyze traffic from Silk Road Connected devices?</a:t>
            </a:r>
          </a:p>
          <a:p>
            <a:r>
              <a:rPr lang="en-US" dirty="0" smtClean="0"/>
              <a:t>What is the difference between anonymity and traceability?</a:t>
            </a:r>
          </a:p>
          <a:p>
            <a:r>
              <a:rPr lang="en-US" dirty="0" smtClean="0"/>
              <a:t>What are the key points crucial to a proper digital forensics report?</a:t>
            </a:r>
          </a:p>
          <a:p>
            <a:r>
              <a:rPr lang="en-US" dirty="0" smtClean="0"/>
              <a:t>Discuss the ethical points to be considered in digital forensics</a:t>
            </a:r>
          </a:p>
          <a:p>
            <a:endParaRPr lang="en-US" dirty="0" smtClean="0"/>
          </a:p>
        </p:txBody>
      </p:sp>
    </p:spTree>
    <p:extLst>
      <p:ext uri="{BB962C8B-B14F-4D97-AF65-F5344CB8AC3E}">
        <p14:creationId xmlns:p14="http://schemas.microsoft.com/office/powerpoint/2010/main" val="89220955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3437</Words>
  <Application>Microsoft Office PowerPoint</Application>
  <PresentationFormat>Grand écran</PresentationFormat>
  <Paragraphs>241</Paragraphs>
  <Slides>27</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27</vt:i4>
      </vt:variant>
    </vt:vector>
  </HeadingPairs>
  <TitlesOfParts>
    <vt:vector size="32" baseType="lpstr">
      <vt:lpstr>Arial</vt:lpstr>
      <vt:lpstr>Calibri</vt:lpstr>
      <vt:lpstr>Calibri Light</vt:lpstr>
      <vt:lpstr>Times New Roman</vt:lpstr>
      <vt:lpstr>Thème Office</vt:lpstr>
      <vt:lpstr>Présentation PowerPoint</vt:lpstr>
      <vt:lpstr>NIST Digital Forensic Framework</vt:lpstr>
      <vt:lpstr>NIST Digital Forensic Framework</vt:lpstr>
      <vt:lpstr>NIST Digital Forensic Framework</vt:lpstr>
      <vt:lpstr>NIST Digital Forensic Framework</vt:lpstr>
      <vt:lpstr>NIST Digital Forensic Framework</vt:lpstr>
      <vt:lpstr>NIST Digital Forensic Framework</vt:lpstr>
      <vt:lpstr>NIST Digital Forensic Framework</vt:lpstr>
      <vt:lpstr>NIST Digital Forensic Framework</vt:lpstr>
      <vt:lpstr>NIST Digital Forensic Framework</vt:lpstr>
      <vt:lpstr>NIST Digital Forensic Framework</vt:lpstr>
      <vt:lpstr>NIST Digital Forensic Framework</vt:lpstr>
      <vt:lpstr>NIST Digital Forensic Framework</vt:lpstr>
      <vt:lpstr>NIST Digital Forensic Framework</vt:lpstr>
      <vt:lpstr>NIST Digital Forensic Framework</vt:lpstr>
      <vt:lpstr>NIST Digital Forensic Framework</vt:lpstr>
      <vt:lpstr>NIST Digital Forensic Framework</vt:lpstr>
      <vt:lpstr>Real-Life Case: Ross Ulbricht- Silk Road Inves.</vt:lpstr>
      <vt:lpstr>Real-Life Case: Ross Ulbricht- Silk Road Inves.</vt:lpstr>
      <vt:lpstr>Real-Life Case: Ross Ulbricht- Silk Road Inves.</vt:lpstr>
      <vt:lpstr>Real-Life Case: Ross Ulbricht- Silk Road Case.</vt:lpstr>
      <vt:lpstr>Real-Life Case: Ross Ulbricht- Silk Road Case.</vt:lpstr>
      <vt:lpstr>Real-Life Case: Ross Ulbricht- Silk Road Case.</vt:lpstr>
      <vt:lpstr>Documentation Standards And Reporting</vt:lpstr>
      <vt:lpstr>Documentation Standards And Reporting</vt:lpstr>
      <vt:lpstr>Ethics in Digital Forensic Investigations</vt:lpstr>
      <vt:lpstr>NIST Framework for Digital Forensics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Nebasi Bryan</dc:creator>
  <cp:lastModifiedBy>Nebasi Bryan</cp:lastModifiedBy>
  <cp:revision>7</cp:revision>
  <dcterms:created xsi:type="dcterms:W3CDTF">2026-03-04T23:08:28Z</dcterms:created>
  <dcterms:modified xsi:type="dcterms:W3CDTF">2026-03-04T23:55:13Z</dcterms:modified>
</cp:coreProperties>
</file>